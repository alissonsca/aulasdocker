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image" Target="../media/image-3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8778240" y="100584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9966960" y="1691640"/>
            <a:ext cx="914400" cy="9144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052560" y="2743200"/>
            <a:ext cx="822960" cy="8229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INFRAESTRUTURA</a:t>
            </a:r>
            <a:endParaRPr lang="en-US" sz="1400" dirty="0"/>
          </a:p>
        </p:txBody>
      </p:sp>
      <p:sp>
        <p:nvSpPr>
          <p:cNvPr id="7" name="Text 2"/>
          <p:cNvSpPr txBox="1"/>
          <p:nvPr/>
        </p:nvSpPr>
        <p:spPr>
          <a:xfrm>
            <a:off x="777240" y="23774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os computadores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compartilhados?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822960" y="42519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máquina dedicada às máquinas virtuais, até o Docker — e o Linux,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SSH e os comandos que sustentam tudo isso por trás dos bastidores.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Técnico em Informática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/>
        </p:spPr>
      </p:sp>
      <p:sp>
        <p:nvSpPr>
          <p:cNvPr id="5" name="Shape 3"/>
          <p:cNvSpPr/>
          <p:nvPr/>
        </p:nvSpPr>
        <p:spPr>
          <a:xfrm>
            <a:off x="923544" y="16002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8" y="1727484"/>
            <a:ext cx="275783" cy="275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8191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Por que compartilhar computadores?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89280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um servidor por aplicação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/>
        </p:spPr>
      </p:sp>
      <p:sp>
        <p:nvSpPr>
          <p:cNvPr id="10" name="Shape 7"/>
          <p:cNvSpPr/>
          <p:nvPr/>
        </p:nvSpPr>
        <p:spPr>
          <a:xfrm>
            <a:off x="6455664" y="16002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948" y="172748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58191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Uma linha do tempo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189280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única → máquinas virtuais → containers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31520" y="235000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/>
        </p:spPr>
      </p:sp>
      <p:sp>
        <p:nvSpPr>
          <p:cNvPr id="15" name="Shape 11"/>
          <p:cNvSpPr/>
          <p:nvPr/>
        </p:nvSpPr>
        <p:spPr>
          <a:xfrm>
            <a:off x="923544" y="244144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28" y="2568732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24231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Linux nos servidores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27340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ele domina a internet — e por que não tem tela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235000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/>
        </p:spPr>
      </p:sp>
      <p:sp>
        <p:nvSpPr>
          <p:cNvPr id="20" name="Shape 15"/>
          <p:cNvSpPr/>
          <p:nvPr/>
        </p:nvSpPr>
        <p:spPr>
          <a:xfrm>
            <a:off x="6455664" y="244144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948" y="2568732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24231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Comandos básicos do Linux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132320" y="27340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cd, ls, cat, nano, mkdir, rm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31520" y="319125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/>
        </p:spPr>
      </p:sp>
      <p:sp>
        <p:nvSpPr>
          <p:cNvPr id="25" name="Shape 19"/>
          <p:cNvSpPr/>
          <p:nvPr/>
        </p:nvSpPr>
        <p:spPr>
          <a:xfrm>
            <a:off x="923544" y="3282696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828" y="3409980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326440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SSH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357530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 até um servidor do outro lado do mundo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319125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/>
        </p:spPr>
      </p:sp>
      <p:sp>
        <p:nvSpPr>
          <p:cNvPr id="30" name="Shape 23"/>
          <p:cNvSpPr/>
          <p:nvPr/>
        </p:nvSpPr>
        <p:spPr>
          <a:xfrm>
            <a:off x="6455664" y="3282696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948" y="3409980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32320" y="326440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Docker por dentro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7132320" y="357530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imagem, container, Docker Hub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31520" y="4032504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/>
        </p:spPr>
      </p:sp>
      <p:sp>
        <p:nvSpPr>
          <p:cNvPr id="35" name="Shape 27"/>
          <p:cNvSpPr/>
          <p:nvPr/>
        </p:nvSpPr>
        <p:spPr>
          <a:xfrm>
            <a:off x="923544" y="412394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828" y="4251228"/>
            <a:ext cx="275783" cy="27578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600200" y="41056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Grupos Linux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1600200" y="44165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segredo por trás do sudo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99855" y="3291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3520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compartilhar computadores?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real de dar um servidor inteiro para cada aplicação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de “1 aplicação = 1 servidor”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E8F0F3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8276" y="2276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alto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6118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Comprar, energizar e manter um servidor físico para cada aplicação sai caro — hardware, eletricidade, espaço no data center.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E8F0F3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22768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parte do tempo, ocioso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6118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aplicações não usa 100% da CPU e da memória o tempo todo. O servidor fica “parado” na maior parte do dia.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E8F0F3"/>
          </a:solidFill>
          <a:ln/>
        </p:spPr>
      </p:sp>
      <p:sp>
        <p:nvSpPr>
          <p:cNvPr id="15" name="Shape 11"/>
          <p:cNvSpPr/>
          <p:nvPr/>
        </p:nvSpPr>
        <p:spPr>
          <a:xfrm>
            <a:off x="939546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916" y="227685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Demora para crescer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6118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uma aplicação nova? Comprar, entregar e configurar uma máquina física inteira leva dias ou semanas.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Compartilhar computadores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central: dividir o mesmo hardware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468880"/>
            <a:ext cx="1188720" cy="1188720"/>
          </a:xfrm>
          <a:prstGeom prst="ellipse">
            <a:avLst/>
          </a:prstGeom>
          <a:solidFill>
            <a:srgbClr val="2E6F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493" y="2754173"/>
            <a:ext cx="618134" cy="6181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servidor físico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46320" y="1920240"/>
            <a:ext cx="6217920" cy="658368"/>
          </a:xfrm>
          <a:prstGeom prst="roundRect">
            <a:avLst>
              <a:gd name="adj" fmla="val 11111"/>
            </a:avLst>
          </a:prstGeom>
          <a:solidFill>
            <a:srgbClr val="E8F0F3"/>
          </a:solidFill>
          <a:ln/>
        </p:spPr>
      </p:sp>
      <p:sp>
        <p:nvSpPr>
          <p:cNvPr id="9" name="Shape 6"/>
          <p:cNvSpPr/>
          <p:nvPr/>
        </p:nvSpPr>
        <p:spPr>
          <a:xfrm>
            <a:off x="5093208" y="203911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158" y="214006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9202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566160" y="3429000"/>
            <a:ext cx="1280160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4846320" y="2743200"/>
            <a:ext cx="6217920" cy="658368"/>
          </a:xfrm>
          <a:prstGeom prst="roundRect">
            <a:avLst>
              <a:gd name="adj" fmla="val 11111"/>
            </a:avLst>
          </a:prstGeom>
          <a:solidFill>
            <a:srgbClr val="E8F0F3"/>
          </a:solidFill>
          <a:ln/>
        </p:spPr>
      </p:sp>
      <p:sp>
        <p:nvSpPr>
          <p:cNvPr id="14" name="Shape 10"/>
          <p:cNvSpPr/>
          <p:nvPr/>
        </p:nvSpPr>
        <p:spPr>
          <a:xfrm>
            <a:off x="5093208" y="286207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158" y="2963022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69280" y="274320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vendas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566160" y="3429000"/>
            <a:ext cx="1280160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4846320" y="3566160"/>
            <a:ext cx="6217920" cy="658368"/>
          </a:xfrm>
          <a:prstGeom prst="roundRect">
            <a:avLst>
              <a:gd name="adj" fmla="val 11111"/>
            </a:avLst>
          </a:prstGeom>
          <a:solidFill>
            <a:srgbClr val="E8F0F3"/>
          </a:solidFill>
          <a:ln/>
        </p:spPr>
      </p:sp>
      <p:sp>
        <p:nvSpPr>
          <p:cNvPr id="19" name="Shape 14"/>
          <p:cNvSpPr/>
          <p:nvPr/>
        </p:nvSpPr>
        <p:spPr>
          <a:xfrm>
            <a:off x="5093208" y="368503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158" y="3785982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5661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3566160" y="3429000"/>
            <a:ext cx="1280160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4846320" y="4389120"/>
            <a:ext cx="6217920" cy="658368"/>
          </a:xfrm>
          <a:prstGeom prst="roundRect">
            <a:avLst>
              <a:gd name="adj" fmla="val 11111"/>
            </a:avLst>
          </a:prstGeom>
          <a:solidFill>
            <a:srgbClr val="E8F0F3"/>
          </a:solidFill>
          <a:ln/>
        </p:spPr>
      </p:sp>
      <p:sp>
        <p:nvSpPr>
          <p:cNvPr id="24" name="Shape 18"/>
          <p:cNvSpPr/>
          <p:nvPr/>
        </p:nvSpPr>
        <p:spPr>
          <a:xfrm>
            <a:off x="5093208" y="45079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158" y="4608942"/>
            <a:ext cx="218724" cy="2187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669280" y="43891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3566160" y="3429000"/>
            <a:ext cx="1280160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dash"/>
          </a:ln>
        </p:spPr>
      </p:sp>
      <p:sp>
        <p:nvSpPr>
          <p:cNvPr id="28" name="Shape 21"/>
          <p:cNvSpPr/>
          <p:nvPr/>
        </p:nvSpPr>
        <p:spPr>
          <a:xfrm>
            <a:off x="822960" y="525780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1097280" y="5257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aplicação usa só a fatia de CPU e memória que precisa,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aproveitando a capacidade que antes ficava ociosa.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Compartilhar computadores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99855" y="3291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3520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do tempo do compartilhamento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 extremo (isolamento total) a outro (compartilhamento inteligente)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marcos, uma mesma busca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E8F0F3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642" y="275600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aplicação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máquina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617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total,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352044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210312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E8F0F3"/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0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402" y="2756002"/>
            <a:ext cx="523037" cy="5230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9204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virtuais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4617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“computadores”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um só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352044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503920" y="210312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1B3A4B"/>
          </a:solidFill>
          <a:ln/>
        </p:spPr>
      </p:sp>
      <p:sp>
        <p:nvSpPr>
          <p:cNvPr id="17" name="Shape 11"/>
          <p:cNvSpPr/>
          <p:nvPr/>
        </p:nvSpPr>
        <p:spPr>
          <a:xfrm>
            <a:off x="9509760" y="2514600"/>
            <a:ext cx="1005840" cy="1005840"/>
          </a:xfrm>
          <a:prstGeom prst="ellipse">
            <a:avLst/>
          </a:prstGeom>
          <a:solidFill>
            <a:srgbClr val="2E6F8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1162" y="2756002"/>
            <a:ext cx="523037" cy="52303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68680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(Docker)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8686800" y="4617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Leve, rápido,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ainda isolado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Linha do tempo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1 — Uma aplicação por máquina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aplicação recebe seu próprio servidor físico, só para ela.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10312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E8F0F3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26060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5416" y="2825496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servidor dedicado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E8F0F3"/>
          </a:solidFill>
          <a:ln/>
        </p:spPr>
      </p:sp>
      <p:sp>
        <p:nvSpPr>
          <p:cNvPr id="11" name="Shape 8"/>
          <p:cNvSpPr/>
          <p:nvPr/>
        </p:nvSpPr>
        <p:spPr>
          <a:xfrm>
            <a:off x="5349240" y="26060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696" y="282549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8912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servidor dedicado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72400" y="210312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E8F0F3"/>
          </a:solidFill>
          <a:ln/>
        </p:spPr>
      </p:sp>
      <p:sp>
        <p:nvSpPr>
          <p:cNvPr id="16" name="Shape 12"/>
          <p:cNvSpPr/>
          <p:nvPr/>
        </p:nvSpPr>
        <p:spPr>
          <a:xfrm>
            <a:off x="8732520" y="26060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76" y="282549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77240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servidor dedicado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5029200"/>
            <a:ext cx="10241280" cy="1188720"/>
          </a:xfrm>
          <a:prstGeom prst="roundRect">
            <a:avLst>
              <a:gd name="adj" fmla="val 6154"/>
            </a:avLst>
          </a:prstGeom>
          <a:solidFill>
            <a:srgbClr val="D3E3E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97280" y="50292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Isolamento total — um problema em uma máquina não afeta as outras.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Caro, lento para crescer e desperdiça capacidade ociosa (o problema do bloco 1).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Linha do tempo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2 — Máquinas virtuais (VMs)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programa chamado hypervisor divide 1 servidor físico em várias máquinas virtuais — cada uma rodando seu próprio sistema operacional completo.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10332720" cy="502920"/>
          </a:xfrm>
          <a:prstGeom prst="roundRect">
            <a:avLst>
              <a:gd name="adj" fmla="val 10909"/>
            </a:avLst>
          </a:prstGeom>
          <a:solidFill>
            <a:srgbClr val="1B3A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físico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715768"/>
            <a:ext cx="10332720" cy="502920"/>
          </a:xfrm>
          <a:prstGeom prst="roundRect">
            <a:avLst>
              <a:gd name="adj" fmla="val 10909"/>
            </a:avLst>
          </a:prstGeom>
          <a:solidFill>
            <a:srgbClr val="2E6F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7157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 hospedeiro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82696"/>
            <a:ext cx="10332720" cy="502920"/>
          </a:xfrm>
          <a:prstGeom prst="roundRect">
            <a:avLst>
              <a:gd name="adj" fmla="val 10909"/>
            </a:avLst>
          </a:prstGeom>
          <a:solidFill>
            <a:srgbClr val="6FA0B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8269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849624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E8F0F3"/>
          </a:solidFill>
          <a:ln w="15240">
            <a:solidFill>
              <a:srgbClr val="2E6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9227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 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4261104"/>
            <a:ext cx="2880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2611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completo (guest)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97280" y="4764024"/>
            <a:ext cx="2880360" cy="41148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76402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53128" y="3849624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E8F0F3"/>
          </a:solidFill>
          <a:ln w="15240">
            <a:solidFill>
              <a:srgbClr val="2E6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53128" y="39227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 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36008" y="4261104"/>
            <a:ext cx="2880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36008" y="42611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completo (guest)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36008" y="4764024"/>
            <a:ext cx="2880360" cy="41148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36008" y="476402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1856" y="3849624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E8F0F3"/>
          </a:solidFill>
          <a:ln w="15240">
            <a:solidFill>
              <a:srgbClr val="2E6F8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91856" y="39227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 3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74736" y="4261104"/>
            <a:ext cx="2880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74736" y="42611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completo (guest)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74736" y="4764024"/>
            <a:ext cx="2880360" cy="41148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74736" y="476402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44982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VM carrega um sistema operacional inteiro — melhor uso do hardware, mas pesado e mais lento para iniciar.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Linha do tempo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3 — Containers (Docker)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containers compartilham o kernel do sistema operacional hospedeiro — cada um isola só a aplicação e suas dependências, sem carregar um SO inteiro.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10332720" cy="502920"/>
          </a:xfrm>
          <a:prstGeom prst="roundRect">
            <a:avLst>
              <a:gd name="adj" fmla="val 10909"/>
            </a:avLst>
          </a:prstGeom>
          <a:solidFill>
            <a:srgbClr val="1B3A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físico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715768"/>
            <a:ext cx="10332720" cy="502920"/>
          </a:xfrm>
          <a:prstGeom prst="roundRect">
            <a:avLst>
              <a:gd name="adj" fmla="val 10909"/>
            </a:avLst>
          </a:prstGeom>
          <a:solidFill>
            <a:srgbClr val="2E6F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7157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 hospedeiro (com o kernel Linux)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82696"/>
            <a:ext cx="10332720" cy="502920"/>
          </a:xfrm>
          <a:prstGeom prst="roundRect">
            <a:avLst>
              <a:gd name="adj" fmla="val 10909"/>
            </a:avLst>
          </a:prstGeom>
          <a:solidFill>
            <a:srgbClr val="6FA0B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8269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849624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E8F0F3"/>
          </a:solidFill>
          <a:ln w="1778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904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4233672"/>
            <a:ext cx="2880360" cy="41148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2336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53128" y="3849624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E8F0F3"/>
          </a:solidFill>
          <a:ln w="17780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53128" y="3904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36008" y="4233672"/>
            <a:ext cx="2880360" cy="41148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36008" y="42336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91856" y="3849624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E8F0F3"/>
          </a:solidFill>
          <a:ln w="1778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91856" y="3904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3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74736" y="4233672"/>
            <a:ext cx="2880360" cy="41148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74736" y="42336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469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SO próprio por container: só a aplicação. Resultado: inicia em segundos, usa poucos recursos, e cabem muito mais containers no mesmo hardware.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Linha do tempo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vs. Máquina Virtual: a diferença central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8F0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Virtual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0360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7870" y="2574950"/>
            <a:ext cx="427939" cy="4279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3383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 o HARDWARE.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VM carrega um sistema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completo (guest OS).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709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pesado • Inicia em minutos • Isolamento máximo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B3A4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(Container)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458200" y="2377440"/>
            <a:ext cx="822960" cy="822960"/>
          </a:xfrm>
          <a:prstGeom prst="ellipse">
            <a:avLst/>
          </a:prstGeom>
          <a:solidFill>
            <a:srgbClr val="2E6F8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710" y="257495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0" y="3383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 o SISTEMA OPERACIONAL.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containers compartilham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kernel do hospedeiro.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4709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mais leve • Inicia em segundos • Isolamento da aplicação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Linha do tempo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FIXAR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analogia simples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E8F0F3"/>
          </a:solidFill>
          <a:ln/>
        </p:spPr>
      </p:sp>
      <p:sp>
        <p:nvSpPr>
          <p:cNvPr id="5" name="Shape 3"/>
          <p:cNvSpPr/>
          <p:nvPr/>
        </p:nvSpPr>
        <p:spPr>
          <a:xfrm>
            <a:off x="2788920" y="21031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0322" y="23445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 = casas isoladas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8404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casa tem sua própria fundação, seu próprio encanamento, sua própria estrutura elétrica — construída do zero, independente das vizinhas.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B3A4B"/>
          </a:solidFill>
          <a:ln/>
        </p:spPr>
      </p:sp>
      <p:sp>
        <p:nvSpPr>
          <p:cNvPr id="10" name="Shape 7"/>
          <p:cNvSpPr/>
          <p:nvPr/>
        </p:nvSpPr>
        <p:spPr>
          <a:xfrm>
            <a:off x="8366760" y="2103120"/>
            <a:ext cx="1005840" cy="1005840"/>
          </a:xfrm>
          <a:prstGeom prst="ellipse">
            <a:avLst/>
          </a:prstGeom>
          <a:solidFill>
            <a:srgbClr val="2E6F8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162" y="234452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224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= apartamentos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38404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apartamentos compartilham a fundação e a estrutura do prédio (o kernel) — mas cada um tem sua porta trancada e seu próprio espaço isolado.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Linha do tempo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RÁPIDO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 os três marcos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737360"/>
            <a:ext cx="2651760" cy="566928"/>
          </a:xfrm>
          <a:prstGeom prst="rect">
            <a:avLst/>
          </a:prstGeom>
          <a:solidFill>
            <a:srgbClr val="1B3A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0" y="1737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app / máquina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0" y="1737360"/>
            <a:ext cx="2651760" cy="566928"/>
          </a:xfrm>
          <a:prstGeom prst="rect">
            <a:avLst/>
          </a:prstGeom>
          <a:solidFill>
            <a:srgbClr val="1B3A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1737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virtual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03920" y="1737360"/>
            <a:ext cx="2651760" cy="566928"/>
          </a:xfrm>
          <a:prstGeom prst="rect">
            <a:avLst/>
          </a:prstGeom>
          <a:solidFill>
            <a:srgbClr val="1B3A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1737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(Docker)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304288"/>
            <a:ext cx="2468880" cy="566928"/>
          </a:xfrm>
          <a:prstGeom prst="rect">
            <a:avLst/>
          </a:prstGeom>
          <a:solidFill>
            <a:srgbClr val="E8F0F3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3042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30428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23042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pesado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230428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23042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Pesado (SO completo)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230428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23042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(só a app)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871216"/>
            <a:ext cx="2468880" cy="566928"/>
          </a:xfrm>
          <a:prstGeom prst="rect">
            <a:avLst/>
          </a:prstGeom>
          <a:solidFill>
            <a:srgbClr val="E8F0F3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28712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de início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871216"/>
            <a:ext cx="2651760" cy="566928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0" y="28712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a horas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2871216"/>
            <a:ext cx="2651760" cy="566928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0" y="28712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2871216"/>
            <a:ext cx="2651760" cy="566928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28712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438144"/>
            <a:ext cx="2468880" cy="566928"/>
          </a:xfrm>
          <a:prstGeom prst="rect">
            <a:avLst/>
          </a:prstGeom>
          <a:solidFill>
            <a:srgbClr val="E8F0F3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4381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0" y="343814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00400" y="34381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(física)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343814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52160" y="34381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(SO próprio)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343814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34381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aplicação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4005072"/>
            <a:ext cx="2468880" cy="566928"/>
          </a:xfrm>
          <a:prstGeom prst="rect">
            <a:avLst/>
          </a:prstGeom>
          <a:solidFill>
            <a:srgbClr val="E8F0F3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005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hardware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0" y="4005072"/>
            <a:ext cx="2651760" cy="566928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00400" y="40050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52160" y="4005072"/>
            <a:ext cx="2651760" cy="566928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52160" y="40050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03920" y="4005072"/>
            <a:ext cx="2651760" cy="566928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03920" y="40050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Linha do tempo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99855" y="3291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3520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nos servidores da internet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ele domina — e por que raramente tem tela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DOMÍNIO QUASE ABSOLUTO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operacional dos servidores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1B3A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62,5%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sites do mundo rodam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servidores Linux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12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W3Techs, set/2026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48656" y="1636776"/>
            <a:ext cx="566928" cy="566928"/>
          </a:xfrm>
          <a:prstGeom prst="ellipse">
            <a:avLst/>
          </a:prstGeom>
          <a:solidFill>
            <a:srgbClr val="E8F0F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719" y="1772839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6002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e de código aberto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licença, mesmo em milhares de servidores.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48656" y="2532888"/>
            <a:ext cx="566928" cy="566928"/>
          </a:xfrm>
          <a:prstGeom prst="ellipse">
            <a:avLst/>
          </a:prstGeom>
          <a:solidFill>
            <a:srgbClr val="E8F0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719" y="2668951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89320" y="2496312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 e seguro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ficam meses ou anos ligados sem precisar reiniciar.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248656" y="3429000"/>
            <a:ext cx="566928" cy="566928"/>
          </a:xfrm>
          <a:prstGeom prst="ellipse">
            <a:avLst/>
          </a:prstGeom>
          <a:solidFill>
            <a:srgbClr val="E8F0F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719" y="356506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89320" y="3392424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pouca memória e processamento — mais recursos sobram para a aplicação.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248656" y="4325112"/>
            <a:ext cx="566928" cy="566928"/>
          </a:xfrm>
          <a:prstGeom prst="ellipse">
            <a:avLst/>
          </a:prstGeom>
          <a:solidFill>
            <a:srgbClr val="E8F0F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719" y="4461175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989320" y="428853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gigante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suporte, documentação e ferramentas para qualquer necessidade.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— Linux nos servidores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INTERFACE GRÁFICA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Servidores raramente têm tela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48840" y="2606040"/>
            <a:ext cx="1554480" cy="1554480"/>
          </a:xfrm>
          <a:prstGeom prst="ellipse">
            <a:avLst/>
          </a:prstGeom>
          <a:solidFill>
            <a:srgbClr val="2E6F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1915" y="2979115"/>
            <a:ext cx="808330" cy="8083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48840" y="2606040"/>
            <a:ext cx="1554480" cy="1554480"/>
          </a:xfrm>
          <a:prstGeom prst="line">
            <a:avLst/>
          </a:prstGeom>
          <a:noFill/>
          <a:ln w="50800">
            <a:solidFill>
              <a:srgbClr val="B23A4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03320" y="2606040"/>
            <a:ext cx="-1554480" cy="1554480"/>
          </a:xfrm>
          <a:prstGeom prst="line">
            <a:avLst/>
          </a:prstGeom>
          <a:noFill/>
          <a:ln w="50800">
            <a:solidFill>
              <a:srgbClr val="B23A4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54480" y="4617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monitor, mouse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interface gráfica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219456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servidores Linux roda em “modo texto”, sem nenhuma interface gráfica instalada.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é uma limitação — é intencional: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MB de memória e cada ciclo de processamento economizado na interface gráfica é um recurso a mais disponível para a aplicação que realmente importa.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— Linux nos servidores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PORTA DE ENTRADA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isso, comandos são fundamentais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219456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49040" y="1737360"/>
            <a:ext cx="7406640" cy="4114800"/>
          </a:xfrm>
          <a:prstGeom prst="roundRect">
            <a:avLst>
              <a:gd name="adj" fmla="val 2222"/>
            </a:avLst>
          </a:prstGeom>
          <a:solidFill>
            <a:srgbClr val="E8F0F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114800" y="2011680"/>
            <a:ext cx="6675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tela, não existe “clicar em um ícone”.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tarefa — navegar entre pastas, ler um arquivo, criar um diretório, apagar algo — precisa ser feita digitando o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exato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um terminal de texto.
</a:t>
            </a:r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esse conjunto de comandos que vamos ver a seguir.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— Linux nos servidores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99855" y="3291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3520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básicos do Linux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 mínimo para sobreviver em um terminal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E 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Navegar entre pastas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160020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0802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29971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31720" y="199339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19933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pasta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92024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em uma pasta. Use cd .. para voltar uma pasta acima, e cd sozinho para ir direto para a pasta do usuário.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3566160"/>
            <a:ext cx="10698480" cy="160020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/>
        </p:spPr>
      </p:sp>
      <p:sp>
        <p:nvSpPr>
          <p:cNvPr id="11" name="Shape 8"/>
          <p:cNvSpPr/>
          <p:nvPr/>
        </p:nvSpPr>
        <p:spPr>
          <a:xfrm>
            <a:off x="1143000" y="39090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4128516"/>
            <a:ext cx="475488" cy="4754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31720" y="382219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560320" y="38221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897880" y="374904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os arquivos e pastas do diretório atual. Use ls -la para ver também os ocultos e os detalhes (dono, tamanho, data).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Comandos básicos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E NANO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e editar arquivos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160020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0802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29971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31720" y="199339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19933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arquivo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92024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na tela o conteúdo de um arquivo de texto — não edita, só exibe.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3566160"/>
            <a:ext cx="10698480" cy="160020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/>
        </p:spPr>
      </p:sp>
      <p:sp>
        <p:nvSpPr>
          <p:cNvPr id="11" name="Shape 8"/>
          <p:cNvSpPr/>
          <p:nvPr/>
        </p:nvSpPr>
        <p:spPr>
          <a:xfrm>
            <a:off x="1143000" y="39090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4128516"/>
            <a:ext cx="475488" cy="4754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31720" y="382219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560320" y="38221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 arquivo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897880" y="374904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um editor de texto simples no terminal. Ctrl+O salva, Ctrl+X sai.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Comandos básicos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E 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e remover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160020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0802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29971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31720" y="199339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19933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pasta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92024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nova pasta (diretório) com o nome indicado.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3566160"/>
            <a:ext cx="10698480" cy="160020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/>
        </p:spPr>
      </p:sp>
      <p:sp>
        <p:nvSpPr>
          <p:cNvPr id="11" name="Shape 8"/>
          <p:cNvSpPr/>
          <p:nvPr/>
        </p:nvSpPr>
        <p:spPr>
          <a:xfrm>
            <a:off x="1143000" y="39090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4128516"/>
            <a:ext cx="475488" cy="4754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31720" y="382219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560320" y="38221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arquivo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897880" y="374904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um arquivo. Para remover uma pasta inteira, use rm -r pasta.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" y="544068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CEAE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6235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54406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é definitivo: não existe “lixeira” no terminal. Um arquivo apagado com rm não volta.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Comandos básicos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Cheat-sheet: os 6 comandos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691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entre pastas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691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1691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arquivos e pastas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76148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6148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76148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conteúdo de um arquivo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276148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76148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276148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um arquivo de texto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83133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383133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383133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nova pasta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83133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83133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83133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um arquivo (ou -r, uma pasta)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Comandos básicos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99855" y="3291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3520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SSH: a ponte até o servidor remoto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acessar uma máquina que não está na sua frente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SHELL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SSH?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2377440"/>
            <a:ext cx="1828800" cy="1828800"/>
          </a:xfrm>
          <a:prstGeom prst="ellipse">
            <a:avLst/>
          </a:prstGeom>
          <a:solidFill>
            <a:srgbClr val="E8F0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2816352"/>
            <a:ext cx="950976" cy="9509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63440" y="201168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(Secure Shell) é um protocolo que conecta o terminal do seu computador ao terminal de outro computador,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através da internet, com tudo criptografado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ninguém no meio do caminho consegue ler o que é digitado.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4343400"/>
            <a:ext cx="6675120" cy="1097280"/>
          </a:xfrm>
          <a:prstGeom prst="roundRect">
            <a:avLst>
              <a:gd name="adj" fmla="val 6667"/>
            </a:avLst>
          </a:prstGeom>
          <a:solidFill>
            <a:srgbClr val="E8F0F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43434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se o seu teclado e sua tela fossem “teleportados” para dentro do outro computador — tudo que você digita roda lá, não aqui.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— SSH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NÃO TEM COMO ACESSAR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SSH é essencial no dia a dia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43200"/>
            <a:ext cx="1188720" cy="1188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3063240"/>
            <a:ext cx="640080" cy="6400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651760"/>
            <a:ext cx="1280160" cy="128016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63240"/>
            <a:ext cx="640080" cy="6400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651760"/>
            <a:ext cx="1280160" cy="128016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45720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computador</a:t>
            </a:r>
            <a:endParaRPr lang="en-US" sz="1050" dirty="0"/>
          </a:p>
        </p:txBody>
      </p:sp>
      <p:sp>
        <p:nvSpPr>
          <p:cNvPr id="10" name="Text 3"/>
          <p:cNvSpPr txBox="1"/>
          <p:nvPr/>
        </p:nvSpPr>
        <p:spPr>
          <a:xfrm>
            <a:off x="301752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</p:txBody>
      </p:sp>
      <p:sp>
        <p:nvSpPr>
          <p:cNvPr id="11" name="Text 4"/>
          <p:cNvSpPr txBox="1"/>
          <p:nvPr/>
        </p:nvSpPr>
        <p:spPr>
          <a:xfrm>
            <a:off x="539496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em outro país</a:t>
            </a:r>
            <a:endParaRPr lang="en-US" sz="1050" dirty="0"/>
          </a:p>
        </p:txBody>
      </p:sp>
      <p:sp>
        <p:nvSpPr>
          <p:cNvPr id="12" name="Text 5"/>
          <p:cNvSpPr txBox="1"/>
          <p:nvPr/>
        </p:nvSpPr>
        <p:spPr>
          <a:xfrm>
            <a:off x="7680960" y="23774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ficam em data centers — muitas vezes em outro país —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teclado, sem mouse e sem monitor conectados.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SSH é a única “porta de entrada”: é como todo programador acessa e administra esses servidores no dia a dia.</a:t>
            </a:r>
            <a:endParaRPr lang="en-US" sz="14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— SSH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VIA SSH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sintaxe do comando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18320" cy="822960"/>
          </a:xfrm>
          <a:prstGeom prst="roundRect">
            <a:avLst>
              <a:gd name="adj" fmla="val 8889"/>
            </a:avLst>
          </a:prstGeom>
          <a:solidFill>
            <a:srgbClr val="1226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18288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usuario@endereco -p porta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3108960"/>
            <a:ext cx="9418320" cy="868680"/>
          </a:xfrm>
          <a:prstGeom prst="roundRect">
            <a:avLst>
              <a:gd name="adj" fmla="val 6316"/>
            </a:avLst>
          </a:prstGeom>
          <a:solidFill>
            <a:srgbClr val="E8F0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3108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que você vai acessar no servidor remoto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4096512"/>
            <a:ext cx="9418320" cy="868680"/>
          </a:xfrm>
          <a:prstGeom prst="roundRect">
            <a:avLst>
              <a:gd name="adj" fmla="val 6316"/>
            </a:avLst>
          </a:prstGeom>
          <a:solidFill>
            <a:srgbClr val="E8F0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00200" y="409651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4096512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IP (ou nome) da máquina que você quer acessar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5084064"/>
            <a:ext cx="9418320" cy="868680"/>
          </a:xfrm>
          <a:prstGeom prst="roundRect">
            <a:avLst>
              <a:gd name="adj" fmla="val 6316"/>
            </a:avLst>
          </a:prstGeom>
          <a:solidFill>
            <a:srgbClr val="E8F0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00200" y="508406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5084064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servidor pode expor o SSH em uma porta diferente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— SSH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99855" y="3291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3520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por dentro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→ imagem → container → Docker Hub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DO DOCKER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receita ao prato pronto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3017520" cy="3383280"/>
          </a:xfrm>
          <a:prstGeom prst="roundRect">
            <a:avLst>
              <a:gd name="adj" fmla="val 3636"/>
            </a:avLst>
          </a:prstGeom>
          <a:solidFill>
            <a:srgbClr val="E8F0F3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24688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7867" y="27322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347472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2011680"/>
            <a:ext cx="3017520" cy="3383280"/>
          </a:xfrm>
          <a:prstGeom prst="roundRect">
            <a:avLst>
              <a:gd name="adj" fmla="val 3636"/>
            </a:avLst>
          </a:prstGeom>
          <a:solidFill>
            <a:srgbClr val="E8F0F3"/>
          </a:solidFill>
          <a:ln/>
        </p:spPr>
      </p:sp>
      <p:sp>
        <p:nvSpPr>
          <p:cNvPr id="11" name="Shape 7"/>
          <p:cNvSpPr/>
          <p:nvPr/>
        </p:nvSpPr>
        <p:spPr>
          <a:xfrm>
            <a:off x="5669280" y="24688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27" y="2732227"/>
            <a:ext cx="570586" cy="57058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9204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Imagem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prato pronto, embalado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347472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503920" y="2011680"/>
            <a:ext cx="3017520" cy="3383280"/>
          </a:xfrm>
          <a:prstGeom prst="roundRect">
            <a:avLst>
              <a:gd name="adj" fmla="val 3636"/>
            </a:avLst>
          </a:prstGeom>
          <a:solidFill>
            <a:srgbClr val="1B3A4B"/>
          </a:solidFill>
          <a:ln/>
        </p:spPr>
      </p:sp>
      <p:sp>
        <p:nvSpPr>
          <p:cNvPr id="17" name="Shape 11"/>
          <p:cNvSpPr/>
          <p:nvPr/>
        </p:nvSpPr>
        <p:spPr>
          <a:xfrm>
            <a:off x="9464040" y="2468880"/>
            <a:ext cx="1097280" cy="1097280"/>
          </a:xfrm>
          <a:prstGeom prst="ellipse">
            <a:avLst/>
          </a:prstGeom>
          <a:solidFill>
            <a:srgbClr val="2E6F8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387" y="2732227"/>
            <a:ext cx="570586" cy="57058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68680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868680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prato sendo servido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— Docker por dentro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 — a receita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2423160"/>
            <a:ext cx="1920240" cy="1920240"/>
          </a:xfrm>
          <a:prstGeom prst="ellipse">
            <a:avLst/>
          </a:prstGeom>
          <a:solidFill>
            <a:srgbClr val="E8F0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618" y="2884018"/>
            <a:ext cx="998525" cy="9985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201168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arquivo de texto com o passo a passo para montar o ambiente: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sistema usar como base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programas instalar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arquivos copiar para dentro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comandos rodar ao iniciar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— Docker por dentro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Imagem — o molde pronto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2423160"/>
            <a:ext cx="1920240" cy="1920240"/>
          </a:xfrm>
          <a:prstGeom prst="ellipse">
            <a:avLst/>
          </a:prstGeom>
          <a:solidFill>
            <a:srgbClr val="E8F0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618" y="2884018"/>
            <a:ext cx="998525" cy="9985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2011680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resultado de seguir a receita do Dockerfile: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pacote “congelado” com tudo que a aplicação precisa para rodar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sistema, bibliotecas, código, configurações.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em si não está “rodando” — é só o molde, pronto para ser usado quantas vezes for preciso.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— Docker por dentro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— o prato sendo servido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2423160"/>
            <a:ext cx="1920240" cy="1920240"/>
          </a:xfrm>
          <a:prstGeom prst="ellipse">
            <a:avLst/>
          </a:prstGeom>
          <a:solidFill>
            <a:srgbClr val="E8F0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618" y="2884018"/>
            <a:ext cx="998525" cy="9985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2011680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cópia da imagem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execução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processo vivo da aplicação rodando, isolado dos demais.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pode rodar várias cópias (containers) da mesma imagem ao mesmo tempo, cada uma isolada das outras.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— Docker por dentro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Hub — a prateleira de imagens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91640" y="2331720"/>
            <a:ext cx="1920240" cy="1920240"/>
          </a:xfrm>
          <a:prstGeom prst="ellipse">
            <a:avLst/>
          </a:prstGeom>
          <a:solidFill>
            <a:srgbClr val="2E6F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498" y="2792578"/>
            <a:ext cx="998525" cy="9985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0" y="228600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repositório na nuvem cheio de imagens já prontas </a:t>
            </a:r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(Nginx, MySQL, Ubuntu, Python...)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qualquer pessoa pode baixar e usar, sem precisar montar tudo do zero.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0" y="420624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1226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257800" y="4206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nginx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— Docker por dentro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E 6.6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e testar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1920240"/>
          </a:xfrm>
          <a:prstGeom prst="roundRect">
            <a:avLst>
              <a:gd name="adj" fmla="val 4762"/>
            </a:avLst>
          </a:prstGeom>
          <a:solidFill>
            <a:srgbClr val="E8F0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Instalar o Docker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31720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1226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2331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 &amp;&amp; sudo apt install -y docker.io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017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distribuição baseada em Debian/Ubuntu, instala o Docker pelo gerenciador de pacotes do sistema.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886200"/>
            <a:ext cx="10698480" cy="1874520"/>
          </a:xfrm>
          <a:prstGeom prst="roundRect">
            <a:avLst>
              <a:gd name="adj" fmla="val 4878"/>
            </a:avLst>
          </a:prstGeom>
          <a:solidFill>
            <a:srgbClr val="E8F0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Testar a instalação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4480560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1226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4480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docker run hello-world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essa imagem mínima de teste rodar e imprimir uma mensagem de sucesso, o Docker está instalado e funcionando.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— Docker por dentro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ps — quem está rodando agora?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73736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1226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1737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6974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os containers em execução neste momento: nome, imagem usada, portas publicadas e há quanto tempo está rodando.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371600" y="3520440"/>
            <a:ext cx="9418320" cy="2194560"/>
          </a:xfrm>
          <a:prstGeom prst="roundRect">
            <a:avLst>
              <a:gd name="adj" fmla="val 3333"/>
            </a:avLst>
          </a:prstGeom>
          <a:solidFill>
            <a:srgbClr val="1226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0200" y="3611880"/>
            <a:ext cx="8961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ID   IMAGE     COMMAND       STATUS         PORTS                  NAMES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a1b2c3d4e5f6   nginx     "nginx -g..."  Up 2 minutes   0.0.0.0:8080-&gt;80/tcp   meusite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— Docker por dentro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99855" y="3291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3520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Linux e o segredo do sudo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às vezes docker ps funciona sozinho, e às vezes não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grupo no Linux?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2331720"/>
            <a:ext cx="1920240" cy="1920240"/>
          </a:xfrm>
          <a:prstGeom prst="ellipse">
            <a:avLst/>
          </a:prstGeom>
          <a:solidFill>
            <a:srgbClr val="E8F0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618" y="2792578"/>
            <a:ext cx="998525" cy="9985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9202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Linux, cada usuário pode pertencer a um ou mais grupos, e cada grupo carrega certas permissões.
</a:t>
            </a:r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até um grupo chamado </a:t>
            </a:r>
            <a:pPr indent="0" marL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dá acesso ao daemon do Docker sem precisar de sudo toda vez.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— Grupos Linux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— NA PRÁTICA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ps vs. sudo docker 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20640" cy="4069080"/>
          </a:xfrm>
          <a:prstGeom prst="roundRect">
            <a:avLst>
              <a:gd name="adj" fmla="val 2247"/>
            </a:avLst>
          </a:prstGeom>
          <a:solidFill>
            <a:srgbClr val="FCEAEA"/>
          </a:solidFill>
          <a:ln/>
        </p:spPr>
      </p:sp>
      <p:sp>
        <p:nvSpPr>
          <p:cNvPr id="5" name="Shape 3"/>
          <p:cNvSpPr/>
          <p:nvPr/>
        </p:nvSpPr>
        <p:spPr>
          <a:xfrm>
            <a:off x="2880360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7870" y="230063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30632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1226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17320" y="3063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 denied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2519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daemon do Docker roda com privilégios de root. Um usuário comum, fora do grupo docker, não tem permissão para falar com ele diretamente.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691640"/>
            <a:ext cx="5120640" cy="4069080"/>
          </a:xfrm>
          <a:prstGeom prst="roundRect">
            <a:avLst>
              <a:gd name="adj" fmla="val 2247"/>
            </a:avLst>
          </a:prstGeom>
          <a:solidFill>
            <a:srgbClr val="E7F3EC"/>
          </a:solidFill>
          <a:ln/>
        </p:spPr>
      </p:sp>
      <p:sp>
        <p:nvSpPr>
          <p:cNvPr id="12" name="Shape 9"/>
          <p:cNvSpPr/>
          <p:nvPr/>
        </p:nvSpPr>
        <p:spPr>
          <a:xfrm>
            <a:off x="8458200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710" y="2300630"/>
            <a:ext cx="427939" cy="42793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66560" y="30632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12262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995160" y="3063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docker ps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76656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 (lista os containers)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42519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eleva a permissão na hora (pedindo a senha). Já adicionar o usuário ao grupo docker (com logout/login) faz o docker ps funcionar sem sudo.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— Grupos Linux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 tudo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898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3716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hardware entre aplicações economiza dinheiro, energia e tempo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56816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193852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do tempo foi: 1 app por máquina → máquinas virtuais → containers (Docker)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23744"/>
            <a:ext cx="292608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250545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compartilha o kernel do SO; a VM carrega um SO completo em cada instância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90672"/>
            <a:ext cx="292608" cy="29260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072384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domina os servidores da internet — leve, estável, gratuito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57600"/>
            <a:ext cx="292608" cy="29260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363931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não têm tela: por isso cd, ls, cat, nano, mkdir e rm são essenciais</a:t>
            </a:r>
            <a:endParaRPr lang="en-US" sz="13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224528"/>
            <a:ext cx="292608" cy="29260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42062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é a ponte segura até um servidor sem teclado, mouse ou monitor</a:t>
            </a:r>
            <a:endParaRPr lang="en-US" sz="13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791456"/>
            <a:ext cx="292608" cy="29260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34440" y="477316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Dockerfile (receita) → imagem (molde) → container (em execução) → Docker Hub</a:t>
            </a:r>
            <a:endParaRPr lang="en-US" sz="13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358384"/>
            <a:ext cx="292608" cy="292608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234440" y="534009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Linux (como o grupo docker) definem quem usa certos comandos sem sudo</a:t>
            </a:r>
            <a:endParaRPr lang="en-US" sz="1350" dirty="0"/>
          </a:p>
        </p:txBody>
      </p:sp>
      <p:sp>
        <p:nvSpPr>
          <p:cNvPr id="19" name="Text 9"/>
          <p:cNvSpPr txBox="1"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</a:t>
            </a:r>
            <a:endParaRPr lang="en-US" sz="2000" dirty="0"/>
          </a:p>
        </p:txBody>
      </p:sp>
      <p:sp>
        <p:nvSpPr>
          <p:cNvPr id="20" name="Text 10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Linux, Virtualização e Docker</a:t>
            </a:r>
            <a:endParaRPr lang="en-US" sz="1000" dirty="0"/>
          </a:p>
        </p:txBody>
      </p:sp>
      <p:sp>
        <p:nvSpPr>
          <p:cNvPr id="21" name="Text 11"/>
          <p:cNvSpPr txBox="1"/>
          <p:nvPr/>
        </p:nvSpPr>
        <p:spPr>
          <a:xfrm>
            <a:off x="11185855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2026-09-17T16:58:23Z</dcterms:created>
  <dcterms:modified xsi:type="dcterms:W3CDTF">2026-09-17T16:58:23Z</dcterms:modified>
</cp:coreProperties>
</file>