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6.xml" ContentType="application/vnd.openxmlformats-officedocument.presentationml.slide+xml"/>
  <Override PartName="/ppt/slides/slide18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7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A994147-3D0A-40EF-B79D-3E660378B23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A979F6-5005-4F29-9995-AE3F66FE0A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FC1FA2-36EC-4FA9-9FB0-95BAB4B914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EF55A-D0D7-472C-9941-81F0D83084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6B9266-0266-41AF-A79D-BD9FA4D45A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702360-560E-477E-B6CE-63D36EB0A6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530303-BB34-4A17-BBFB-E9965B18FC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B07880-3C26-4BBA-9D22-B3548ECD70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89D36F-C3F5-48ED-AD3F-2F8A4EDF08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1A0DA5-358D-4349-8D48-703797D0E7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DB0E0C1-9B18-4971-B8E9-FAD3D1D5295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C3B48A-9EA1-462B-9ABC-283B166F2E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43B8FB-9889-48C1-AD28-00663A8CB6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006327-4776-429B-97D0-6029AD3386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337B59-7D10-4119-B084-56C35FC01B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1B39F1-688B-42DC-84C8-39CB517FCD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8CBFE-BB25-49F5-A00F-FA422B45A4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C4EFF8-2BE7-41F1-9C9A-96B9D19B054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E857E-D21D-40DF-B7C1-2AFE66918B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29FAD6-AC83-47AC-8E61-AE07ABFC68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4273C0-8257-4990-A0FF-CB5164B2CA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4591E5-5F1B-4D93-B4E0-A5B3049CA39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F5327D-05D0-489B-9D4D-0CC5683402D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C78AF7-51BC-4238-90C8-D49E90F279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447C63-3CA7-4BA5-BD2F-EE5825D2C45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453D713-60DE-468E-9D4A-6F7BED5CA9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7E9E69-DDBE-4F27-8DAC-8C2BD637FE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78E89A7-A51D-419F-BE72-0921A19B0FC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5B749B-3B54-410D-8F7B-CAEAC4962F0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3948A6-2102-49F8-AAF7-4C45C9A10E8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2AFABF-3AE8-47E7-B30A-9C63A9139BF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53BDE7-23B8-490E-BFE9-E38A88AC41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849CE2-CFB8-42A5-B29C-0A2EACAAB10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E3E25AD-93CF-4B3C-96B8-69E7F666E3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48EE11D-B244-4B31-91B2-FF6C7C555A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722A60-8E8C-4F07-91C3-E7484CA00A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E53235-9136-4A45-891E-6A8538300B7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AAEE47-646B-4770-BD35-01882007C5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075187-5862-4EE1-A4D5-9F4AA5A346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2.png"/><Relationship Id="rId4" Type="http://schemas.openxmlformats.org/officeDocument/2006/relationships/image" Target="../media/image12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3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28.png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14.png"/><Relationship Id="rId3" Type="http://schemas.openxmlformats.org/officeDocument/2006/relationships/image" Target="../media/image31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4.png"/><Relationship Id="rId3" Type="http://schemas.openxmlformats.org/officeDocument/2006/relationships/image" Target="../media/image34.png"/><Relationship Id="rId4" Type="http://schemas.openxmlformats.org/officeDocument/2006/relationships/image" Target="../media/image34.png"/><Relationship Id="rId5" Type="http://schemas.openxmlformats.org/officeDocument/2006/relationships/image" Target="../media/image34.png"/><Relationship Id="rId6" Type="http://schemas.openxmlformats.org/officeDocument/2006/relationships/image" Target="../media/image34.png"/><Relationship Id="rId7" Type="http://schemas.openxmlformats.org/officeDocument/2006/relationships/image" Target="../media/image34.png"/><Relationship Id="rId8" Type="http://schemas.openxmlformats.org/officeDocument/2006/relationships/image" Target="../media/image3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>
            <a:alphaModFix amt="75000"/>
          </a:blip>
          <a:stretch/>
        </p:blipFill>
        <p:spPr>
          <a:xfrm>
            <a:off x="8778240" y="10058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Image 1" descr="preencoded.png"/>
          <p:cNvPicPr/>
          <p:nvPr/>
        </p:nvPicPr>
        <p:blipFill>
          <a:blip r:embed="rId2">
            <a:alphaModFix amt="90000"/>
          </a:blip>
          <a:stretch/>
        </p:blipFill>
        <p:spPr>
          <a:xfrm>
            <a:off x="9966960" y="1691640"/>
            <a:ext cx="91404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Image 2" descr="preencoded.png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9052560" y="2743200"/>
            <a:ext cx="822600" cy="822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" name="Text 1"/>
          <p:cNvSpPr/>
          <p:nvPr/>
        </p:nvSpPr>
        <p:spPr>
          <a:xfrm>
            <a:off x="822960" y="196596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FUNDAMENTOS DE INFRAESTRUTURA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777240" y="2377440"/>
            <a:ext cx="84121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Por que os computadores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são compartilhados?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822960" y="4251960"/>
            <a:ext cx="87778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Da máquina dedicada às máquinas virtuais, até o Docker — e o Linux,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o SSH e os comandos que sustentam tudo isso por trás dos bastidores.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22960" y="598932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FA6B2"/>
                </a:solidFill>
                <a:effectLst/>
                <a:uFillTx/>
                <a:latin typeface="Calibri"/>
                <a:ea typeface="Calibri"/>
              </a:rPr>
              <a:t>Curso Técnico em Informática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5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ROTEIRO DA AULA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O que vamos ver hoje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731520" y="150876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923400" y="160020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Image 0" descr="preencoded.png"/>
          <p:cNvPicPr/>
          <p:nvPr/>
        </p:nvPicPr>
        <p:blipFill>
          <a:blip r:embed="rId1"/>
          <a:stretch/>
        </p:blipFill>
        <p:spPr>
          <a:xfrm>
            <a:off x="1050840" y="172764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Text 4"/>
          <p:cNvSpPr/>
          <p:nvPr/>
        </p:nvSpPr>
        <p:spPr>
          <a:xfrm>
            <a:off x="1600200" y="158184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1. Por que compartilhar computadores?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5"/>
          <p:cNvSpPr/>
          <p:nvPr/>
        </p:nvSpPr>
        <p:spPr>
          <a:xfrm>
            <a:off x="1600200" y="189288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O custo de um servidor por 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6"/>
          <p:cNvSpPr/>
          <p:nvPr/>
        </p:nvSpPr>
        <p:spPr>
          <a:xfrm>
            <a:off x="6263640" y="150876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7"/>
          <p:cNvSpPr/>
          <p:nvPr/>
        </p:nvSpPr>
        <p:spPr>
          <a:xfrm>
            <a:off x="6455520" y="160020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" name="Image 1" descr="preencoded.png"/>
          <p:cNvPicPr/>
          <p:nvPr/>
        </p:nvPicPr>
        <p:blipFill>
          <a:blip r:embed="rId2"/>
          <a:stretch/>
        </p:blipFill>
        <p:spPr>
          <a:xfrm>
            <a:off x="6582960" y="172764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Text 8"/>
          <p:cNvSpPr/>
          <p:nvPr/>
        </p:nvSpPr>
        <p:spPr>
          <a:xfrm>
            <a:off x="7132320" y="158184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2. Uma linha do tempo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7132320" y="189288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Máquina única → máquinas virtuais → containers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731520" y="235008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923400" y="244152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" name="Image 2" descr="preencoded.png"/>
          <p:cNvPicPr/>
          <p:nvPr/>
        </p:nvPicPr>
        <p:blipFill>
          <a:blip r:embed="rId3"/>
          <a:stretch/>
        </p:blipFill>
        <p:spPr>
          <a:xfrm>
            <a:off x="1050840" y="256860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" name="Text 12"/>
          <p:cNvSpPr/>
          <p:nvPr/>
        </p:nvSpPr>
        <p:spPr>
          <a:xfrm>
            <a:off x="1600200" y="242316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3. Linux nos servidores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3"/>
          <p:cNvSpPr/>
          <p:nvPr/>
        </p:nvSpPr>
        <p:spPr>
          <a:xfrm>
            <a:off x="1600200" y="273420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Por que ele domina a internet — e por que não tem tela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4"/>
          <p:cNvSpPr/>
          <p:nvPr/>
        </p:nvSpPr>
        <p:spPr>
          <a:xfrm>
            <a:off x="6263640" y="235008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455520" y="244152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3" descr="preencoded.png"/>
          <p:cNvPicPr/>
          <p:nvPr/>
        </p:nvPicPr>
        <p:blipFill>
          <a:blip r:embed="rId4"/>
          <a:stretch/>
        </p:blipFill>
        <p:spPr>
          <a:xfrm>
            <a:off x="6582960" y="256860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7132320" y="242316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4. Comandos básicos do Linux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132320" y="273420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cd, ls, cat, nano, mkdir, rm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>
            <a:off x="731520" y="319140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9"/>
          <p:cNvSpPr/>
          <p:nvPr/>
        </p:nvSpPr>
        <p:spPr>
          <a:xfrm>
            <a:off x="923400" y="328284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Image 4" descr="preencoded.png"/>
          <p:cNvPicPr/>
          <p:nvPr/>
        </p:nvPicPr>
        <p:blipFill>
          <a:blip r:embed="rId5"/>
          <a:stretch/>
        </p:blipFill>
        <p:spPr>
          <a:xfrm>
            <a:off x="1050840" y="340992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Text 20"/>
          <p:cNvSpPr/>
          <p:nvPr/>
        </p:nvSpPr>
        <p:spPr>
          <a:xfrm>
            <a:off x="1600200" y="326448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5. SSH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1"/>
          <p:cNvSpPr/>
          <p:nvPr/>
        </p:nvSpPr>
        <p:spPr>
          <a:xfrm>
            <a:off x="1600200" y="357516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A ponte até um servidor do outro lado do mundo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2"/>
          <p:cNvSpPr/>
          <p:nvPr/>
        </p:nvSpPr>
        <p:spPr>
          <a:xfrm>
            <a:off x="6263640" y="319140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6455520" y="328284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" name="Image 5" descr="preencoded.png"/>
          <p:cNvPicPr/>
          <p:nvPr/>
        </p:nvPicPr>
        <p:blipFill>
          <a:blip r:embed="rId6"/>
          <a:stretch/>
        </p:blipFill>
        <p:spPr>
          <a:xfrm>
            <a:off x="6582960" y="340992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Text 24"/>
          <p:cNvSpPr/>
          <p:nvPr/>
        </p:nvSpPr>
        <p:spPr>
          <a:xfrm>
            <a:off x="7132320" y="326448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6. Docker por dentro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5"/>
          <p:cNvSpPr/>
          <p:nvPr/>
        </p:nvSpPr>
        <p:spPr>
          <a:xfrm>
            <a:off x="7132320" y="357516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Dockerfile, imagem, container, Docker Hub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6"/>
          <p:cNvSpPr/>
          <p:nvPr/>
        </p:nvSpPr>
        <p:spPr>
          <a:xfrm>
            <a:off x="731520" y="4032360"/>
            <a:ext cx="5074560" cy="712800"/>
          </a:xfrm>
          <a:prstGeom prst="roundRect">
            <a:avLst>
              <a:gd name="adj" fmla="val 1025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7"/>
          <p:cNvSpPr/>
          <p:nvPr/>
        </p:nvSpPr>
        <p:spPr>
          <a:xfrm>
            <a:off x="923400" y="4123800"/>
            <a:ext cx="529920" cy="529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6" descr="preencoded.png"/>
          <p:cNvPicPr/>
          <p:nvPr/>
        </p:nvPicPr>
        <p:blipFill>
          <a:blip r:embed="rId7"/>
          <a:stretch/>
        </p:blipFill>
        <p:spPr>
          <a:xfrm>
            <a:off x="1050840" y="4251240"/>
            <a:ext cx="275400" cy="27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8"/>
          <p:cNvSpPr/>
          <p:nvPr/>
        </p:nvSpPr>
        <p:spPr>
          <a:xfrm>
            <a:off x="1600200" y="4105800"/>
            <a:ext cx="406872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7. Grupos Linux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9"/>
          <p:cNvSpPr/>
          <p:nvPr/>
        </p:nvSpPr>
        <p:spPr>
          <a:xfrm>
            <a:off x="1600200" y="4416480"/>
            <a:ext cx="40687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O segredo por trás do sudo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0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1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Por que compartilhar computadores?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O custo real de dar um servidor inteiro para cada aplicação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O PONTO DE PARTIDA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O problema de “1 aplicação = 1 servidor”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"/>
          <p:cNvSpPr/>
          <p:nvPr/>
        </p:nvSpPr>
        <p:spPr>
          <a:xfrm>
            <a:off x="731520" y="173736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"/>
          <p:cNvSpPr/>
          <p:nvPr/>
        </p:nvSpPr>
        <p:spPr>
          <a:xfrm>
            <a:off x="1989000" y="205740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0" descr="preencoded.png"/>
          <p:cNvPicPr/>
          <p:nvPr/>
        </p:nvPicPr>
        <p:blipFill>
          <a:blip r:embed="rId1"/>
          <a:stretch/>
        </p:blipFill>
        <p:spPr>
          <a:xfrm>
            <a:off x="2208240" y="2277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Text 4"/>
          <p:cNvSpPr/>
          <p:nvPr/>
        </p:nvSpPr>
        <p:spPr>
          <a:xfrm>
            <a:off x="1005840" y="31546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Custo alto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005840" y="3611880"/>
            <a:ext cx="2880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Comprar, energizar e manter um servidor físico para cada aplicação sai caro — hardware, eletricidade, espaço no data center.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6"/>
          <p:cNvSpPr/>
          <p:nvPr/>
        </p:nvSpPr>
        <p:spPr>
          <a:xfrm>
            <a:off x="4434840" y="173736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7"/>
          <p:cNvSpPr/>
          <p:nvPr/>
        </p:nvSpPr>
        <p:spPr>
          <a:xfrm>
            <a:off x="5692320" y="205740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1" descr="preencoded.png"/>
          <p:cNvPicPr/>
          <p:nvPr/>
        </p:nvPicPr>
        <p:blipFill>
          <a:blip r:embed="rId2"/>
          <a:stretch/>
        </p:blipFill>
        <p:spPr>
          <a:xfrm>
            <a:off x="5911560" y="2277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 8"/>
          <p:cNvSpPr/>
          <p:nvPr/>
        </p:nvSpPr>
        <p:spPr>
          <a:xfrm>
            <a:off x="4709160" y="31546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Maior parte do tempo, ocioso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4709160" y="3611880"/>
            <a:ext cx="2880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A maioria das aplicações não usa 100% da CPU e da memória o tempo todo. O servidor fica “parado” na maior parte do dia.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0"/>
          <p:cNvSpPr/>
          <p:nvPr/>
        </p:nvSpPr>
        <p:spPr>
          <a:xfrm>
            <a:off x="8138160" y="1737360"/>
            <a:ext cx="3428640" cy="3565800"/>
          </a:xfrm>
          <a:prstGeom prst="roundRect">
            <a:avLst>
              <a:gd name="adj" fmla="val 2667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1"/>
          <p:cNvSpPr/>
          <p:nvPr/>
        </p:nvSpPr>
        <p:spPr>
          <a:xfrm>
            <a:off x="9395640" y="205740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2" descr="preencoded.png"/>
          <p:cNvPicPr/>
          <p:nvPr/>
        </p:nvPicPr>
        <p:blipFill>
          <a:blip r:embed="rId3"/>
          <a:stretch/>
        </p:blipFill>
        <p:spPr>
          <a:xfrm>
            <a:off x="9614880" y="227700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 12"/>
          <p:cNvSpPr/>
          <p:nvPr/>
        </p:nvSpPr>
        <p:spPr>
          <a:xfrm>
            <a:off x="8412480" y="315468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Demora para crescer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3"/>
          <p:cNvSpPr/>
          <p:nvPr/>
        </p:nvSpPr>
        <p:spPr>
          <a:xfrm>
            <a:off x="8412480" y="3611880"/>
            <a:ext cx="28800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Precisa de uma aplicação nova? Comprar, entregar e configurar uma máquina física inteira leva dias ou semanas.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1 — Compartilhar computadores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A SOLUÇÃO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A ideia central: dividir o mesmo hardware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822960" y="1920240"/>
            <a:ext cx="2742840" cy="3017160"/>
          </a:xfrm>
          <a:prstGeom prst="roundRect">
            <a:avLst>
              <a:gd name="adj" fmla="val 3333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1600200" y="2468880"/>
            <a:ext cx="1188360" cy="118836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1885320" y="2754000"/>
            <a:ext cx="617760" cy="61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1005840" y="3977640"/>
            <a:ext cx="2377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 servidor físico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5"/>
          <p:cNvSpPr/>
          <p:nvPr/>
        </p:nvSpPr>
        <p:spPr>
          <a:xfrm>
            <a:off x="4846320" y="1920240"/>
            <a:ext cx="6217560" cy="658080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5093280" y="203904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1" descr="preencoded.png"/>
          <p:cNvPicPr/>
          <p:nvPr/>
        </p:nvPicPr>
        <p:blipFill>
          <a:blip r:embed="rId2"/>
          <a:stretch/>
        </p:blipFill>
        <p:spPr>
          <a:xfrm>
            <a:off x="5194080" y="214020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7"/>
          <p:cNvSpPr/>
          <p:nvPr/>
        </p:nvSpPr>
        <p:spPr>
          <a:xfrm>
            <a:off x="5669280" y="1920240"/>
            <a:ext cx="5211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Site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8"/>
          <p:cNvSpPr/>
          <p:nvPr/>
        </p:nvSpPr>
        <p:spPr>
          <a:xfrm>
            <a:off x="3566160" y="3429000"/>
            <a:ext cx="1280160" cy="360"/>
          </a:xfrm>
          <a:prstGeom prst="line">
            <a:avLst/>
          </a:prstGeom>
          <a:ln w="12700">
            <a:solidFill>
              <a:srgbClr val="D7E1E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9"/>
          <p:cNvSpPr/>
          <p:nvPr/>
        </p:nvSpPr>
        <p:spPr>
          <a:xfrm>
            <a:off x="4846320" y="2743200"/>
            <a:ext cx="6217560" cy="658080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0"/>
          <p:cNvSpPr/>
          <p:nvPr/>
        </p:nvSpPr>
        <p:spPr>
          <a:xfrm>
            <a:off x="5093280" y="286200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7" name="Image 2" descr="preencoded.png"/>
          <p:cNvPicPr/>
          <p:nvPr/>
        </p:nvPicPr>
        <p:blipFill>
          <a:blip r:embed="rId3"/>
          <a:stretch/>
        </p:blipFill>
        <p:spPr>
          <a:xfrm>
            <a:off x="5194080" y="296316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 11"/>
          <p:cNvSpPr/>
          <p:nvPr/>
        </p:nvSpPr>
        <p:spPr>
          <a:xfrm>
            <a:off x="5669280" y="2743200"/>
            <a:ext cx="5211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App de vendas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12"/>
          <p:cNvSpPr/>
          <p:nvPr/>
        </p:nvSpPr>
        <p:spPr>
          <a:xfrm>
            <a:off x="3566160" y="3429000"/>
            <a:ext cx="1280160" cy="360"/>
          </a:xfrm>
          <a:prstGeom prst="line">
            <a:avLst/>
          </a:prstGeom>
          <a:ln w="12700">
            <a:solidFill>
              <a:srgbClr val="D7E1E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13"/>
          <p:cNvSpPr/>
          <p:nvPr/>
        </p:nvSpPr>
        <p:spPr>
          <a:xfrm>
            <a:off x="4846320" y="3566160"/>
            <a:ext cx="6217560" cy="658080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4"/>
          <p:cNvSpPr/>
          <p:nvPr/>
        </p:nvSpPr>
        <p:spPr>
          <a:xfrm>
            <a:off x="5093280" y="368496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3" descr="preencoded.png"/>
          <p:cNvPicPr/>
          <p:nvPr/>
        </p:nvPicPr>
        <p:blipFill>
          <a:blip r:embed="rId4"/>
          <a:stretch/>
        </p:blipFill>
        <p:spPr>
          <a:xfrm>
            <a:off x="5194080" y="378612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15"/>
          <p:cNvSpPr/>
          <p:nvPr/>
        </p:nvSpPr>
        <p:spPr>
          <a:xfrm>
            <a:off x="5669280" y="3566160"/>
            <a:ext cx="5211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Banco de dados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6"/>
          <p:cNvSpPr/>
          <p:nvPr/>
        </p:nvSpPr>
        <p:spPr>
          <a:xfrm>
            <a:off x="3566160" y="3429000"/>
            <a:ext cx="1280160" cy="360"/>
          </a:xfrm>
          <a:prstGeom prst="line">
            <a:avLst/>
          </a:prstGeom>
          <a:ln w="12700">
            <a:solidFill>
              <a:srgbClr val="D7E1E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17"/>
          <p:cNvSpPr/>
          <p:nvPr/>
        </p:nvSpPr>
        <p:spPr>
          <a:xfrm>
            <a:off x="4846320" y="4389120"/>
            <a:ext cx="6217560" cy="658080"/>
          </a:xfrm>
          <a:prstGeom prst="roundRect">
            <a:avLst>
              <a:gd name="adj" fmla="val 11111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8"/>
          <p:cNvSpPr/>
          <p:nvPr/>
        </p:nvSpPr>
        <p:spPr>
          <a:xfrm>
            <a:off x="5093280" y="4507920"/>
            <a:ext cx="420120" cy="4201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7" name="Image 4" descr="preencoded.png"/>
          <p:cNvPicPr/>
          <p:nvPr/>
        </p:nvPicPr>
        <p:blipFill>
          <a:blip r:embed="rId5"/>
          <a:stretch/>
        </p:blipFill>
        <p:spPr>
          <a:xfrm>
            <a:off x="5194080" y="4609080"/>
            <a:ext cx="218520" cy="218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8" name="Text 19"/>
          <p:cNvSpPr/>
          <p:nvPr/>
        </p:nvSpPr>
        <p:spPr>
          <a:xfrm>
            <a:off x="5669280" y="4389120"/>
            <a:ext cx="52117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E-mail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0"/>
          <p:cNvSpPr/>
          <p:nvPr/>
        </p:nvSpPr>
        <p:spPr>
          <a:xfrm>
            <a:off x="3566160" y="3429000"/>
            <a:ext cx="1280160" cy="360"/>
          </a:xfrm>
          <a:prstGeom prst="line">
            <a:avLst/>
          </a:prstGeom>
          <a:ln w="12700">
            <a:solidFill>
              <a:srgbClr val="D7E1E6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21"/>
          <p:cNvSpPr/>
          <p:nvPr/>
        </p:nvSpPr>
        <p:spPr>
          <a:xfrm>
            <a:off x="822960" y="5257800"/>
            <a:ext cx="10240920" cy="914040"/>
          </a:xfrm>
          <a:prstGeom prst="roundRect">
            <a:avLst>
              <a:gd name="adj" fmla="val 8000"/>
            </a:avLst>
          </a:prstGeom>
          <a:solidFill>
            <a:srgbClr val="FDF3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22"/>
          <p:cNvSpPr/>
          <p:nvPr/>
        </p:nvSpPr>
        <p:spPr>
          <a:xfrm>
            <a:off x="1097280" y="5257800"/>
            <a:ext cx="96922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Cada aplicação usa só a fatia de CPU e memória que precisa, </a:t>
            </a:r>
            <a:r>
              <a:rPr lang="en-US" sz="13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aproveitando a capacidade que antes ficava ociosa.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2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1 — Compartilhar computadores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Uma linha do tempo do compartilhamento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De um extremo (isolamento total) a outro (compartilhamento inteligente)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VISÃO GERAL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Três marcos, uma mesma busca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"/>
          <p:cNvSpPr/>
          <p:nvPr/>
        </p:nvSpPr>
        <p:spPr>
          <a:xfrm>
            <a:off x="914400" y="2103120"/>
            <a:ext cx="3017160" cy="329148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3"/>
          <p:cNvSpPr/>
          <p:nvPr/>
        </p:nvSpPr>
        <p:spPr>
          <a:xfrm>
            <a:off x="1920240" y="2514600"/>
            <a:ext cx="1005480" cy="1005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4" name="Image 0" descr="preencoded.png"/>
          <p:cNvPicPr/>
          <p:nvPr/>
        </p:nvPicPr>
        <p:blipFill>
          <a:blip r:embed="rId1"/>
          <a:stretch/>
        </p:blipFill>
        <p:spPr>
          <a:xfrm>
            <a:off x="2161800" y="2756160"/>
            <a:ext cx="522720" cy="5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 4"/>
          <p:cNvSpPr/>
          <p:nvPr/>
        </p:nvSpPr>
        <p:spPr>
          <a:xfrm>
            <a:off x="1097280" y="37033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Uma aplicação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por máquina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1097280" y="46177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Isolamento total,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custo total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1" descr="preencoded.png"/>
          <p:cNvPicPr/>
          <p:nvPr/>
        </p:nvPicPr>
        <p:blipFill>
          <a:blip r:embed="rId2"/>
          <a:stretch/>
        </p:blipFill>
        <p:spPr>
          <a:xfrm>
            <a:off x="4096440" y="3520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Shape 6"/>
          <p:cNvSpPr/>
          <p:nvPr/>
        </p:nvSpPr>
        <p:spPr>
          <a:xfrm>
            <a:off x="4709160" y="2103120"/>
            <a:ext cx="3017160" cy="329148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5715000" y="2514600"/>
            <a:ext cx="1005480" cy="1005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Image 2" descr="preencoded.png"/>
          <p:cNvPicPr/>
          <p:nvPr/>
        </p:nvPicPr>
        <p:blipFill>
          <a:blip r:embed="rId3"/>
          <a:stretch/>
        </p:blipFill>
        <p:spPr>
          <a:xfrm>
            <a:off x="5956560" y="2756160"/>
            <a:ext cx="522720" cy="5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1" name="Text 8"/>
          <p:cNvSpPr/>
          <p:nvPr/>
        </p:nvSpPr>
        <p:spPr>
          <a:xfrm>
            <a:off x="4892040" y="37033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Máquinas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virtuais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4892040" y="46177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Vários “computadores”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dentro de um só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3" name="Image 3" descr="preencoded.png"/>
          <p:cNvPicPr/>
          <p:nvPr/>
        </p:nvPicPr>
        <p:blipFill>
          <a:blip r:embed="rId4"/>
          <a:stretch/>
        </p:blipFill>
        <p:spPr>
          <a:xfrm>
            <a:off x="7891200" y="352044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Shape 10"/>
          <p:cNvSpPr/>
          <p:nvPr/>
        </p:nvSpPr>
        <p:spPr>
          <a:xfrm>
            <a:off x="8503920" y="2103120"/>
            <a:ext cx="3017160" cy="3291480"/>
          </a:xfrm>
          <a:prstGeom prst="roundRect">
            <a:avLst>
              <a:gd name="adj" fmla="val 3636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1"/>
          <p:cNvSpPr/>
          <p:nvPr/>
        </p:nvSpPr>
        <p:spPr>
          <a:xfrm>
            <a:off x="9509760" y="2514600"/>
            <a:ext cx="1005480" cy="100548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4" descr="preencoded.png"/>
          <p:cNvPicPr/>
          <p:nvPr/>
        </p:nvPicPr>
        <p:blipFill>
          <a:blip r:embed="rId5"/>
          <a:stretch/>
        </p:blipFill>
        <p:spPr>
          <a:xfrm>
            <a:off x="9751320" y="2756160"/>
            <a:ext cx="522720" cy="5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12"/>
          <p:cNvSpPr/>
          <p:nvPr/>
        </p:nvSpPr>
        <p:spPr>
          <a:xfrm>
            <a:off x="8686800" y="370332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Containers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(Docker)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3"/>
          <p:cNvSpPr/>
          <p:nvPr/>
        </p:nvSpPr>
        <p:spPr>
          <a:xfrm>
            <a:off x="8686800" y="4617720"/>
            <a:ext cx="26514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Leve, rápido,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e ainda isolado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2.1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Marco 1 — Uma aplicação por máquina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"/>
          <p:cNvSpPr/>
          <p:nvPr/>
        </p:nvSpPr>
        <p:spPr>
          <a:xfrm>
            <a:off x="731520" y="1371600"/>
            <a:ext cx="10515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Cada aplicação recebe seu próprio servidor físico, só para ela.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3"/>
          <p:cNvSpPr/>
          <p:nvPr/>
        </p:nvSpPr>
        <p:spPr>
          <a:xfrm>
            <a:off x="1005840" y="2103120"/>
            <a:ext cx="2834280" cy="246852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1965960" y="26060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Image 0" descr="preencoded.png"/>
          <p:cNvPicPr/>
          <p:nvPr/>
        </p:nvPicPr>
        <p:blipFill>
          <a:blip r:embed="rId1"/>
          <a:stretch/>
        </p:blipFill>
        <p:spPr>
          <a:xfrm>
            <a:off x="2185560" y="28256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Text 5"/>
          <p:cNvSpPr/>
          <p:nvPr/>
        </p:nvSpPr>
        <p:spPr>
          <a:xfrm>
            <a:off x="1005840" y="361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Site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1005840" y="39776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 servidor dedicado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7"/>
          <p:cNvSpPr/>
          <p:nvPr/>
        </p:nvSpPr>
        <p:spPr>
          <a:xfrm>
            <a:off x="4389120" y="2103120"/>
            <a:ext cx="2834280" cy="246852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8"/>
          <p:cNvSpPr/>
          <p:nvPr/>
        </p:nvSpPr>
        <p:spPr>
          <a:xfrm>
            <a:off x="5349240" y="26060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1" name="Image 1" descr="preencoded.png"/>
          <p:cNvPicPr/>
          <p:nvPr/>
        </p:nvPicPr>
        <p:blipFill>
          <a:blip r:embed="rId2"/>
          <a:stretch/>
        </p:blipFill>
        <p:spPr>
          <a:xfrm>
            <a:off x="5568840" y="28256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Text 9"/>
          <p:cNvSpPr/>
          <p:nvPr/>
        </p:nvSpPr>
        <p:spPr>
          <a:xfrm>
            <a:off x="4389120" y="361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App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0"/>
          <p:cNvSpPr/>
          <p:nvPr/>
        </p:nvSpPr>
        <p:spPr>
          <a:xfrm>
            <a:off x="4389120" y="39776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 servidor dedicado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1"/>
          <p:cNvSpPr/>
          <p:nvPr/>
        </p:nvSpPr>
        <p:spPr>
          <a:xfrm>
            <a:off x="7772400" y="2103120"/>
            <a:ext cx="2834280" cy="2468520"/>
          </a:xfrm>
          <a:prstGeom prst="roundRect">
            <a:avLst>
              <a:gd name="adj" fmla="val 370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12"/>
          <p:cNvSpPr/>
          <p:nvPr/>
        </p:nvSpPr>
        <p:spPr>
          <a:xfrm>
            <a:off x="8732520" y="26060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2" descr="preencoded.png"/>
          <p:cNvPicPr/>
          <p:nvPr/>
        </p:nvPicPr>
        <p:blipFill>
          <a:blip r:embed="rId3"/>
          <a:stretch/>
        </p:blipFill>
        <p:spPr>
          <a:xfrm>
            <a:off x="8952120" y="28256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13"/>
          <p:cNvSpPr/>
          <p:nvPr/>
        </p:nvSpPr>
        <p:spPr>
          <a:xfrm>
            <a:off x="7772400" y="361188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Banco de dados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4"/>
          <p:cNvSpPr/>
          <p:nvPr/>
        </p:nvSpPr>
        <p:spPr>
          <a:xfrm>
            <a:off x="7772400" y="3977640"/>
            <a:ext cx="2834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 servidor dedicado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15"/>
          <p:cNvSpPr/>
          <p:nvPr/>
        </p:nvSpPr>
        <p:spPr>
          <a:xfrm>
            <a:off x="822960" y="5029200"/>
            <a:ext cx="10240920" cy="1188360"/>
          </a:xfrm>
          <a:prstGeom prst="roundRect">
            <a:avLst>
              <a:gd name="adj" fmla="val 6154"/>
            </a:avLst>
          </a:prstGeom>
          <a:solidFill>
            <a:srgbClr val="D3E3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6"/>
          <p:cNvSpPr/>
          <p:nvPr/>
        </p:nvSpPr>
        <p:spPr>
          <a:xfrm>
            <a:off x="1097280" y="5029200"/>
            <a:ext cx="96922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300" b="1" u="none" strike="noStrike">
                <a:solidFill>
                  <a:srgbClr val="2E8B57"/>
                </a:solidFill>
                <a:effectLst/>
                <a:uFillTx/>
                <a:latin typeface="Calibri"/>
                <a:ea typeface="Calibri"/>
              </a:rPr>
              <a:t>✓ Isolamento total — um problema em uma máquina não afeta as outras.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23A48"/>
                </a:solidFill>
                <a:effectLst/>
                <a:uFillTx/>
                <a:latin typeface="Calibri"/>
                <a:ea typeface="Calibri"/>
              </a:rPr>
              <a:t>✗ Caro, lento para crescer e desperdiça capacidade ociosa (o problema do bloco 1).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7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8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2.2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Marco 2 — Máquinas virtuais (VMs)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731520" y="132588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Um programa chamado hypervisor divide 1 servidor físico em várias máquinas virtuais — cada uma rodando seu próprio sistema operacional completo.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914400" y="2148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914400" y="2148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Hardware físico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5"/>
          <p:cNvSpPr/>
          <p:nvPr/>
        </p:nvSpPr>
        <p:spPr>
          <a:xfrm>
            <a:off x="914400" y="2715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914400" y="2715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operacional hospedeiro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7"/>
          <p:cNvSpPr/>
          <p:nvPr/>
        </p:nvSpPr>
        <p:spPr>
          <a:xfrm>
            <a:off x="914400" y="3282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6FA0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914400" y="3282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Hypervisor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9"/>
          <p:cNvSpPr/>
          <p:nvPr/>
        </p:nvSpPr>
        <p:spPr>
          <a:xfrm>
            <a:off x="914400" y="3849480"/>
            <a:ext cx="3245760" cy="141696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914400" y="39229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VM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1"/>
          <p:cNvSpPr/>
          <p:nvPr/>
        </p:nvSpPr>
        <p:spPr>
          <a:xfrm>
            <a:off x="1097280" y="4260960"/>
            <a:ext cx="288000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1097280" y="42609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SO completo (guest)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3"/>
          <p:cNvSpPr/>
          <p:nvPr/>
        </p:nvSpPr>
        <p:spPr>
          <a:xfrm>
            <a:off x="1097280" y="476388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1097280" y="47638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5"/>
          <p:cNvSpPr/>
          <p:nvPr/>
        </p:nvSpPr>
        <p:spPr>
          <a:xfrm>
            <a:off x="4453200" y="3849480"/>
            <a:ext cx="3245760" cy="141696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6"/>
          <p:cNvSpPr/>
          <p:nvPr/>
        </p:nvSpPr>
        <p:spPr>
          <a:xfrm>
            <a:off x="4453200" y="39229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VM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7"/>
          <p:cNvSpPr/>
          <p:nvPr/>
        </p:nvSpPr>
        <p:spPr>
          <a:xfrm>
            <a:off x="4636080" y="4260960"/>
            <a:ext cx="288000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8"/>
          <p:cNvSpPr/>
          <p:nvPr/>
        </p:nvSpPr>
        <p:spPr>
          <a:xfrm>
            <a:off x="4636080" y="42609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SO completo (guest)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9"/>
          <p:cNvSpPr/>
          <p:nvPr/>
        </p:nvSpPr>
        <p:spPr>
          <a:xfrm>
            <a:off x="4636080" y="476388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0"/>
          <p:cNvSpPr/>
          <p:nvPr/>
        </p:nvSpPr>
        <p:spPr>
          <a:xfrm>
            <a:off x="4636080" y="47638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21"/>
          <p:cNvSpPr/>
          <p:nvPr/>
        </p:nvSpPr>
        <p:spPr>
          <a:xfrm>
            <a:off x="7992000" y="3849480"/>
            <a:ext cx="3245760" cy="1416960"/>
          </a:xfrm>
          <a:prstGeom prst="roundRect">
            <a:avLst>
              <a:gd name="adj" fmla="val 3871"/>
            </a:avLst>
          </a:prstGeom>
          <a:solidFill>
            <a:srgbClr val="E8F0F3"/>
          </a:solidFill>
          <a:ln w="15240">
            <a:solidFill>
              <a:srgbClr val="2E6F8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2"/>
          <p:cNvSpPr/>
          <p:nvPr/>
        </p:nvSpPr>
        <p:spPr>
          <a:xfrm>
            <a:off x="7992000" y="3922920"/>
            <a:ext cx="32457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VM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3"/>
          <p:cNvSpPr/>
          <p:nvPr/>
        </p:nvSpPr>
        <p:spPr>
          <a:xfrm>
            <a:off x="8174880" y="4260960"/>
            <a:ext cx="2880000" cy="456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4"/>
          <p:cNvSpPr/>
          <p:nvPr/>
        </p:nvSpPr>
        <p:spPr>
          <a:xfrm>
            <a:off x="8174880" y="4260960"/>
            <a:ext cx="2880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SO completo (guest)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5"/>
          <p:cNvSpPr/>
          <p:nvPr/>
        </p:nvSpPr>
        <p:spPr>
          <a:xfrm>
            <a:off x="8174880" y="476388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6"/>
          <p:cNvSpPr/>
          <p:nvPr/>
        </p:nvSpPr>
        <p:spPr>
          <a:xfrm>
            <a:off x="8174880" y="476388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7"/>
          <p:cNvSpPr/>
          <p:nvPr/>
        </p:nvSpPr>
        <p:spPr>
          <a:xfrm>
            <a:off x="731520" y="5449680"/>
            <a:ext cx="10606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Cada VM carrega um sistema operacional inteiro — melhor uso do hardware, mas pesado e mais lento para iniciar.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8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9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2.3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Marco 3 — Containers (Docker)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"/>
          <p:cNvSpPr/>
          <p:nvPr/>
        </p:nvSpPr>
        <p:spPr>
          <a:xfrm>
            <a:off x="731520" y="1325880"/>
            <a:ext cx="106066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Os containers compartilham o kernel do sistema operacional hospedeiro — cada um isola só a aplicação e suas dependências, sem carregar um SO inteiro.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3"/>
          <p:cNvSpPr/>
          <p:nvPr/>
        </p:nvSpPr>
        <p:spPr>
          <a:xfrm>
            <a:off x="914400" y="2148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914400" y="2148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Hardware físico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5"/>
          <p:cNvSpPr/>
          <p:nvPr/>
        </p:nvSpPr>
        <p:spPr>
          <a:xfrm>
            <a:off x="914400" y="2715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6"/>
          <p:cNvSpPr/>
          <p:nvPr/>
        </p:nvSpPr>
        <p:spPr>
          <a:xfrm>
            <a:off x="914400" y="2715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Sistema operacional hospedeiro (com o kernel Linux)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7"/>
          <p:cNvSpPr/>
          <p:nvPr/>
        </p:nvSpPr>
        <p:spPr>
          <a:xfrm>
            <a:off x="914400" y="3282840"/>
            <a:ext cx="10332360" cy="502560"/>
          </a:xfrm>
          <a:prstGeom prst="roundRect">
            <a:avLst>
              <a:gd name="adj" fmla="val 10909"/>
            </a:avLst>
          </a:prstGeom>
          <a:solidFill>
            <a:srgbClr val="6FA0B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914400" y="3282840"/>
            <a:ext cx="10332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Engine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9"/>
          <p:cNvSpPr/>
          <p:nvPr/>
        </p:nvSpPr>
        <p:spPr>
          <a:xfrm>
            <a:off x="914400" y="3849480"/>
            <a:ext cx="3245760" cy="91404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0"/>
          <p:cNvSpPr/>
          <p:nvPr/>
        </p:nvSpPr>
        <p:spPr>
          <a:xfrm>
            <a:off x="914400" y="39045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Container 1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1"/>
          <p:cNvSpPr/>
          <p:nvPr/>
        </p:nvSpPr>
        <p:spPr>
          <a:xfrm>
            <a:off x="1097280" y="423360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1097280" y="423360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13"/>
          <p:cNvSpPr/>
          <p:nvPr/>
        </p:nvSpPr>
        <p:spPr>
          <a:xfrm>
            <a:off x="4453200" y="3849480"/>
            <a:ext cx="3245760" cy="91404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4"/>
          <p:cNvSpPr/>
          <p:nvPr/>
        </p:nvSpPr>
        <p:spPr>
          <a:xfrm>
            <a:off x="4453200" y="39045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Container 2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4636080" y="423360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4636080" y="423360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17"/>
          <p:cNvSpPr/>
          <p:nvPr/>
        </p:nvSpPr>
        <p:spPr>
          <a:xfrm>
            <a:off x="7992000" y="3849480"/>
            <a:ext cx="3245760" cy="914040"/>
          </a:xfrm>
          <a:prstGeom prst="roundRect">
            <a:avLst>
              <a:gd name="adj" fmla="val 6000"/>
            </a:avLst>
          </a:prstGeom>
          <a:solidFill>
            <a:srgbClr val="E8F0F3"/>
          </a:solidFill>
          <a:ln w="17780">
            <a:solidFill>
              <a:srgbClr val="F2A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7992000" y="3904560"/>
            <a:ext cx="32457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Container 3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8174880" y="4233600"/>
            <a:ext cx="2880000" cy="411120"/>
          </a:xfrm>
          <a:prstGeom prst="roundRect">
            <a:avLst>
              <a:gd name="adj" fmla="val 11111"/>
            </a:avLst>
          </a:prstGeom>
          <a:solidFill>
            <a:srgbClr val="F2A9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8174880" y="4233600"/>
            <a:ext cx="28800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12262F"/>
                </a:solidFill>
                <a:effectLst/>
                <a:uFillTx/>
                <a:latin typeface="Calibri"/>
                <a:ea typeface="Calibri"/>
              </a:rPr>
              <a:t>Aplicação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731520" y="49467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Sem SO próprio por container: só a aplicação. Resultado: inicia em segundos, usa poucos recursos, e cabem muito mais containers no mesmo hardware.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COMPARANDO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Docker vs. Máquina Virtual: a diferença central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2"/>
          <p:cNvSpPr/>
          <p:nvPr/>
        </p:nvSpPr>
        <p:spPr>
          <a:xfrm>
            <a:off x="731520" y="1554480"/>
            <a:ext cx="5120280" cy="4297320"/>
          </a:xfrm>
          <a:prstGeom prst="roundRect">
            <a:avLst>
              <a:gd name="adj" fmla="val 2128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"/>
          <p:cNvSpPr/>
          <p:nvPr/>
        </p:nvSpPr>
        <p:spPr>
          <a:xfrm>
            <a:off x="731520" y="1783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Máquina Virtual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4"/>
          <p:cNvSpPr/>
          <p:nvPr/>
        </p:nvSpPr>
        <p:spPr>
          <a:xfrm>
            <a:off x="2880360" y="237744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0" descr="preencoded.png"/>
          <p:cNvPicPr/>
          <p:nvPr/>
        </p:nvPicPr>
        <p:blipFill>
          <a:blip r:embed="rId1"/>
          <a:stretch/>
        </p:blipFill>
        <p:spPr>
          <a:xfrm>
            <a:off x="3078000" y="257508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5"/>
          <p:cNvSpPr/>
          <p:nvPr/>
        </p:nvSpPr>
        <p:spPr>
          <a:xfrm>
            <a:off x="1005840" y="338328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Virtualiza o HARDWARE.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Cada VM carrega um sistema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operacional completo (guest OS).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1005840" y="470916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Mais pesado • Inicia em minutos • Isolamento máximo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6309360" y="1554480"/>
            <a:ext cx="5120280" cy="4297320"/>
          </a:xfrm>
          <a:prstGeom prst="roundRect">
            <a:avLst>
              <a:gd name="adj" fmla="val 2128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6309360" y="1783080"/>
            <a:ext cx="51202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Docker (Container)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8458200" y="2377440"/>
            <a:ext cx="822600" cy="82260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8" name="Image 1" descr="preencoded.png"/>
          <p:cNvPicPr/>
          <p:nvPr/>
        </p:nvPicPr>
        <p:blipFill>
          <a:blip r:embed="rId2"/>
          <a:stretch/>
        </p:blipFill>
        <p:spPr>
          <a:xfrm>
            <a:off x="8655840" y="257508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Text 10"/>
          <p:cNvSpPr/>
          <p:nvPr/>
        </p:nvSpPr>
        <p:spPr>
          <a:xfrm>
            <a:off x="6583680" y="3383280"/>
            <a:ext cx="45716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Virtualiza as bibliotecas e aplicações.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Os containers compartilham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 kernel do hospedeiro.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1"/>
          <p:cNvSpPr/>
          <p:nvPr/>
        </p:nvSpPr>
        <p:spPr>
          <a:xfrm>
            <a:off x="6583680" y="470916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Muito mais leve • Inicia em segundos • Isolamento da aplicação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2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13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PARA FIXAR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Uma analogia simples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731520" y="1691640"/>
            <a:ext cx="5120280" cy="4023000"/>
          </a:xfrm>
          <a:prstGeom prst="roundRect">
            <a:avLst>
              <a:gd name="adj" fmla="val 2273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3"/>
          <p:cNvSpPr/>
          <p:nvPr/>
        </p:nvSpPr>
        <p:spPr>
          <a:xfrm>
            <a:off x="2788920" y="2103120"/>
            <a:ext cx="1005480" cy="1005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7" name="Image 0" descr="preencoded.png"/>
          <p:cNvPicPr/>
          <p:nvPr/>
        </p:nvPicPr>
        <p:blipFill>
          <a:blip r:embed="rId1"/>
          <a:stretch/>
        </p:blipFill>
        <p:spPr>
          <a:xfrm>
            <a:off x="3030480" y="2344680"/>
            <a:ext cx="522720" cy="5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 4"/>
          <p:cNvSpPr/>
          <p:nvPr/>
        </p:nvSpPr>
        <p:spPr>
          <a:xfrm>
            <a:off x="914400" y="32918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VM = casas isoladas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5"/>
          <p:cNvSpPr/>
          <p:nvPr/>
        </p:nvSpPr>
        <p:spPr>
          <a:xfrm>
            <a:off x="1005840" y="38404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Cada casa tem sua própria fundação, seu próprio encanamento, sua própria estrutura elétrica — construída do zero, independente das vizinhas.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6"/>
          <p:cNvSpPr/>
          <p:nvPr/>
        </p:nvSpPr>
        <p:spPr>
          <a:xfrm>
            <a:off x="6309360" y="1691640"/>
            <a:ext cx="5120280" cy="4023000"/>
          </a:xfrm>
          <a:prstGeom prst="roundRect">
            <a:avLst>
              <a:gd name="adj" fmla="val 2273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7"/>
          <p:cNvSpPr/>
          <p:nvPr/>
        </p:nvSpPr>
        <p:spPr>
          <a:xfrm>
            <a:off x="8366760" y="2103120"/>
            <a:ext cx="1005480" cy="100548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1" descr="preencoded.png"/>
          <p:cNvPicPr/>
          <p:nvPr/>
        </p:nvPicPr>
        <p:blipFill>
          <a:blip r:embed="rId2"/>
          <a:stretch/>
        </p:blipFill>
        <p:spPr>
          <a:xfrm>
            <a:off x="8608320" y="2344680"/>
            <a:ext cx="522720" cy="52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8"/>
          <p:cNvSpPr/>
          <p:nvPr/>
        </p:nvSpPr>
        <p:spPr>
          <a:xfrm>
            <a:off x="6492240" y="3291840"/>
            <a:ext cx="4754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Container = apartamentos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 9"/>
          <p:cNvSpPr/>
          <p:nvPr/>
        </p:nvSpPr>
        <p:spPr>
          <a:xfrm>
            <a:off x="6583680" y="3840480"/>
            <a:ext cx="45716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Todos os apartamentos compartilham a fundação e a estrutura do prédio (o kernel) — mas cada </a:t>
            </a: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um tem sua porta trancada e seu próprio espaço isolado.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RESUMO RÁPIDO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Recapitulando os três marcos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2"/>
          <p:cNvSpPr/>
          <p:nvPr/>
        </p:nvSpPr>
        <p:spPr>
          <a:xfrm>
            <a:off x="731520" y="1737360"/>
            <a:ext cx="2468520" cy="566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"/>
          <p:cNvSpPr/>
          <p:nvPr/>
        </p:nvSpPr>
        <p:spPr>
          <a:xfrm>
            <a:off x="3200400" y="1737360"/>
            <a:ext cx="2651400" cy="566640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4"/>
          <p:cNvSpPr/>
          <p:nvPr/>
        </p:nvSpPr>
        <p:spPr>
          <a:xfrm>
            <a:off x="3200400" y="1737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 app / máquina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5"/>
          <p:cNvSpPr/>
          <p:nvPr/>
        </p:nvSpPr>
        <p:spPr>
          <a:xfrm>
            <a:off x="5852160" y="1737360"/>
            <a:ext cx="2651400" cy="566640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6"/>
          <p:cNvSpPr/>
          <p:nvPr/>
        </p:nvSpPr>
        <p:spPr>
          <a:xfrm>
            <a:off x="5852160" y="1737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Máquina virtual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Shape 7"/>
          <p:cNvSpPr/>
          <p:nvPr/>
        </p:nvSpPr>
        <p:spPr>
          <a:xfrm>
            <a:off x="8503920" y="1737360"/>
            <a:ext cx="2651400" cy="566640"/>
          </a:xfrm>
          <a:prstGeom prst="rect">
            <a:avLst/>
          </a:prstGeom>
          <a:solidFill>
            <a:srgbClr val="1B3A4B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8"/>
          <p:cNvSpPr/>
          <p:nvPr/>
        </p:nvSpPr>
        <p:spPr>
          <a:xfrm>
            <a:off x="8503920" y="1737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Container (Docker)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9"/>
          <p:cNvSpPr/>
          <p:nvPr/>
        </p:nvSpPr>
        <p:spPr>
          <a:xfrm>
            <a:off x="731520" y="2304360"/>
            <a:ext cx="2468520" cy="566640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0"/>
          <p:cNvSpPr/>
          <p:nvPr/>
        </p:nvSpPr>
        <p:spPr>
          <a:xfrm>
            <a:off x="731520" y="230436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Peso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11"/>
          <p:cNvSpPr/>
          <p:nvPr/>
        </p:nvSpPr>
        <p:spPr>
          <a:xfrm>
            <a:off x="3200400" y="230436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12"/>
          <p:cNvSpPr/>
          <p:nvPr/>
        </p:nvSpPr>
        <p:spPr>
          <a:xfrm>
            <a:off x="3200400" y="2304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Muito pesado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13"/>
          <p:cNvSpPr/>
          <p:nvPr/>
        </p:nvSpPr>
        <p:spPr>
          <a:xfrm>
            <a:off x="5852160" y="230436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4"/>
          <p:cNvSpPr/>
          <p:nvPr/>
        </p:nvSpPr>
        <p:spPr>
          <a:xfrm>
            <a:off x="5852160" y="2304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Pesado (SO completo)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5"/>
          <p:cNvSpPr/>
          <p:nvPr/>
        </p:nvSpPr>
        <p:spPr>
          <a:xfrm>
            <a:off x="8503920" y="230436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6"/>
          <p:cNvSpPr/>
          <p:nvPr/>
        </p:nvSpPr>
        <p:spPr>
          <a:xfrm>
            <a:off x="8503920" y="2304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Leve (só a app)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17"/>
          <p:cNvSpPr/>
          <p:nvPr/>
        </p:nvSpPr>
        <p:spPr>
          <a:xfrm>
            <a:off x="731520" y="2871360"/>
            <a:ext cx="2468520" cy="566640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731520" y="287136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Velocidade de início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19"/>
          <p:cNvSpPr/>
          <p:nvPr/>
        </p:nvSpPr>
        <p:spPr>
          <a:xfrm>
            <a:off x="3200400" y="287136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 20"/>
          <p:cNvSpPr/>
          <p:nvPr/>
        </p:nvSpPr>
        <p:spPr>
          <a:xfrm>
            <a:off x="3200400" y="2871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Minutos a horas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21"/>
          <p:cNvSpPr/>
          <p:nvPr/>
        </p:nvSpPr>
        <p:spPr>
          <a:xfrm>
            <a:off x="5852160" y="287136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2"/>
          <p:cNvSpPr/>
          <p:nvPr/>
        </p:nvSpPr>
        <p:spPr>
          <a:xfrm>
            <a:off x="5852160" y="2871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Minutos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23"/>
          <p:cNvSpPr/>
          <p:nvPr/>
        </p:nvSpPr>
        <p:spPr>
          <a:xfrm>
            <a:off x="8503920" y="287136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24"/>
          <p:cNvSpPr/>
          <p:nvPr/>
        </p:nvSpPr>
        <p:spPr>
          <a:xfrm>
            <a:off x="8503920" y="287136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Segundos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25"/>
          <p:cNvSpPr/>
          <p:nvPr/>
        </p:nvSpPr>
        <p:spPr>
          <a:xfrm>
            <a:off x="731520" y="3438000"/>
            <a:ext cx="2468520" cy="566640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6"/>
          <p:cNvSpPr/>
          <p:nvPr/>
        </p:nvSpPr>
        <p:spPr>
          <a:xfrm>
            <a:off x="731520" y="343800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Isolamento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27"/>
          <p:cNvSpPr/>
          <p:nvPr/>
        </p:nvSpPr>
        <p:spPr>
          <a:xfrm>
            <a:off x="3200400" y="343800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8"/>
          <p:cNvSpPr/>
          <p:nvPr/>
        </p:nvSpPr>
        <p:spPr>
          <a:xfrm>
            <a:off x="3200400" y="3438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Total (física)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29"/>
          <p:cNvSpPr/>
          <p:nvPr/>
        </p:nvSpPr>
        <p:spPr>
          <a:xfrm>
            <a:off x="5852160" y="343800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30"/>
          <p:cNvSpPr/>
          <p:nvPr/>
        </p:nvSpPr>
        <p:spPr>
          <a:xfrm>
            <a:off x="5852160" y="3438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Alto (SO próprio)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31"/>
          <p:cNvSpPr/>
          <p:nvPr/>
        </p:nvSpPr>
        <p:spPr>
          <a:xfrm>
            <a:off x="8503920" y="3438000"/>
            <a:ext cx="2651400" cy="566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2"/>
          <p:cNvSpPr/>
          <p:nvPr/>
        </p:nvSpPr>
        <p:spPr>
          <a:xfrm>
            <a:off x="8503920" y="3438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Da aplicação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33"/>
          <p:cNvSpPr/>
          <p:nvPr/>
        </p:nvSpPr>
        <p:spPr>
          <a:xfrm>
            <a:off x="731520" y="4005000"/>
            <a:ext cx="2468520" cy="566640"/>
          </a:xfrm>
          <a:prstGeom prst="rect">
            <a:avLst/>
          </a:prstGeom>
          <a:solidFill>
            <a:srgbClr val="E8F0F3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34"/>
          <p:cNvSpPr/>
          <p:nvPr/>
        </p:nvSpPr>
        <p:spPr>
          <a:xfrm>
            <a:off x="731520" y="4005000"/>
            <a:ext cx="24685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0152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Custo de hardware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35"/>
          <p:cNvSpPr/>
          <p:nvPr/>
        </p:nvSpPr>
        <p:spPr>
          <a:xfrm>
            <a:off x="3200400" y="400500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36"/>
          <p:cNvSpPr/>
          <p:nvPr/>
        </p:nvSpPr>
        <p:spPr>
          <a:xfrm>
            <a:off x="3200400" y="4005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Muito alto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37"/>
          <p:cNvSpPr/>
          <p:nvPr/>
        </p:nvSpPr>
        <p:spPr>
          <a:xfrm>
            <a:off x="5852160" y="400500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38"/>
          <p:cNvSpPr/>
          <p:nvPr/>
        </p:nvSpPr>
        <p:spPr>
          <a:xfrm>
            <a:off x="5852160" y="4005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Médio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9"/>
          <p:cNvSpPr/>
          <p:nvPr/>
        </p:nvSpPr>
        <p:spPr>
          <a:xfrm>
            <a:off x="8503920" y="4005000"/>
            <a:ext cx="2651400" cy="566640"/>
          </a:xfrm>
          <a:prstGeom prst="rect">
            <a:avLst/>
          </a:prstGeom>
          <a:solidFill>
            <a:srgbClr val="D3E3EA"/>
          </a:solidFill>
          <a:ln w="9525">
            <a:solidFill>
              <a:srgbClr val="D7E1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40"/>
          <p:cNvSpPr/>
          <p:nvPr/>
        </p:nvSpPr>
        <p:spPr>
          <a:xfrm>
            <a:off x="8503920" y="4005000"/>
            <a:ext cx="265140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Baixo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41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2 — Linha do tempo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42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1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Linux nos servidores da internet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Por que ele domina — e por que raramente tem tela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UM DOMÍNIO QUASE ABSOLUTO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O sistema operacional dos servidores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2"/>
          <p:cNvSpPr/>
          <p:nvPr/>
        </p:nvSpPr>
        <p:spPr>
          <a:xfrm>
            <a:off x="731520" y="1554480"/>
            <a:ext cx="4205880" cy="4205880"/>
          </a:xfrm>
          <a:prstGeom prst="roundRect">
            <a:avLst>
              <a:gd name="adj" fmla="val 2609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3"/>
          <p:cNvSpPr/>
          <p:nvPr/>
        </p:nvSpPr>
        <p:spPr>
          <a:xfrm>
            <a:off x="731520" y="2103120"/>
            <a:ext cx="420588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A Maioria</a:t>
            </a:r>
            <a:endParaRPr lang="en-US" sz="5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4"/>
          <p:cNvSpPr/>
          <p:nvPr/>
        </p:nvSpPr>
        <p:spPr>
          <a:xfrm>
            <a:off x="914400" y="3291840"/>
            <a:ext cx="3840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dos sites do mundo rodam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 servidores Linux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5"/>
          <p:cNvSpPr/>
          <p:nvPr/>
        </p:nvSpPr>
        <p:spPr>
          <a:xfrm>
            <a:off x="914400" y="521208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9FB7C3"/>
                </a:solidFill>
                <a:effectLst/>
                <a:uFillTx/>
                <a:latin typeface="Calibri"/>
                <a:ea typeface="Calibri"/>
              </a:rPr>
              <a:t>Fonte: W3Techs, set/2026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hape 6"/>
          <p:cNvSpPr/>
          <p:nvPr/>
        </p:nvSpPr>
        <p:spPr>
          <a:xfrm>
            <a:off x="5248800" y="1636920"/>
            <a:ext cx="566640" cy="56664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Image 0" descr="preencoded.png"/>
          <p:cNvPicPr/>
          <p:nvPr/>
        </p:nvPicPr>
        <p:blipFill>
          <a:blip r:embed="rId1"/>
          <a:stretch/>
        </p:blipFill>
        <p:spPr>
          <a:xfrm>
            <a:off x="5384880" y="177300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Text 7"/>
          <p:cNvSpPr/>
          <p:nvPr/>
        </p:nvSpPr>
        <p:spPr>
          <a:xfrm>
            <a:off x="5989320" y="1600200"/>
            <a:ext cx="534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Gratuito e de código aberto — </a:t>
            </a:r>
            <a:r>
              <a:rPr lang="en-US" sz="12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sem custo de licença, mesmo em milhares de servidores.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Shape 8"/>
          <p:cNvSpPr/>
          <p:nvPr/>
        </p:nvSpPr>
        <p:spPr>
          <a:xfrm>
            <a:off x="5248800" y="2532960"/>
            <a:ext cx="566640" cy="56664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6" name="Image 1" descr="preencoded.png"/>
          <p:cNvPicPr/>
          <p:nvPr/>
        </p:nvPicPr>
        <p:blipFill>
          <a:blip r:embed="rId2"/>
          <a:stretch/>
        </p:blipFill>
        <p:spPr>
          <a:xfrm>
            <a:off x="5384880" y="266904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 9"/>
          <p:cNvSpPr/>
          <p:nvPr/>
        </p:nvSpPr>
        <p:spPr>
          <a:xfrm>
            <a:off x="5989320" y="2496240"/>
            <a:ext cx="534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Estável e seguro — </a:t>
            </a:r>
            <a:r>
              <a:rPr lang="en-US" sz="12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servidores ficam meses ou anos ligados sem precisar reiniciar.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5248800" y="3429000"/>
            <a:ext cx="566640" cy="56664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Image 2" descr="preencoded.png"/>
          <p:cNvPicPr/>
          <p:nvPr/>
        </p:nvPicPr>
        <p:blipFill>
          <a:blip r:embed="rId3"/>
          <a:stretch/>
        </p:blipFill>
        <p:spPr>
          <a:xfrm>
            <a:off x="5384880" y="356508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Text 11"/>
          <p:cNvSpPr/>
          <p:nvPr/>
        </p:nvSpPr>
        <p:spPr>
          <a:xfrm>
            <a:off x="5989320" y="3392280"/>
            <a:ext cx="534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Leve — </a:t>
            </a:r>
            <a:r>
              <a:rPr lang="en-US" sz="12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usa pouca memória e processamento — mais recursos sobram para a aplicação.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12"/>
          <p:cNvSpPr/>
          <p:nvPr/>
        </p:nvSpPr>
        <p:spPr>
          <a:xfrm>
            <a:off x="5248800" y="4325040"/>
            <a:ext cx="566640" cy="56664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3" descr="preencoded.png"/>
          <p:cNvPicPr/>
          <p:nvPr/>
        </p:nvPicPr>
        <p:blipFill>
          <a:blip r:embed="rId4"/>
          <a:stretch/>
        </p:blipFill>
        <p:spPr>
          <a:xfrm>
            <a:off x="5384880" y="4461120"/>
            <a:ext cx="294480" cy="294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13"/>
          <p:cNvSpPr/>
          <p:nvPr/>
        </p:nvSpPr>
        <p:spPr>
          <a:xfrm>
            <a:off x="5989320" y="4288680"/>
            <a:ext cx="5348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Comunidade gigante — </a:t>
            </a:r>
            <a:r>
              <a:rPr lang="en-US" sz="12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suporte, documentação e ferramentas para qualquer necessidade.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3 — Linux nos servidores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SEM INTERFACE GRÁFICA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Servidores raramente têm tela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2"/>
          <p:cNvSpPr/>
          <p:nvPr/>
        </p:nvSpPr>
        <p:spPr>
          <a:xfrm>
            <a:off x="2148840" y="2606040"/>
            <a:ext cx="1554120" cy="155412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Image 0" descr="preencoded.png"/>
          <p:cNvPicPr/>
          <p:nvPr/>
        </p:nvPicPr>
        <p:blipFill>
          <a:blip r:embed="rId1"/>
          <a:stretch/>
        </p:blipFill>
        <p:spPr>
          <a:xfrm>
            <a:off x="2521800" y="2979000"/>
            <a:ext cx="807840" cy="80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0" name="Shape 3"/>
          <p:cNvSpPr/>
          <p:nvPr/>
        </p:nvSpPr>
        <p:spPr>
          <a:xfrm>
            <a:off x="2148840" y="2606040"/>
            <a:ext cx="1554480" cy="1554480"/>
          </a:xfrm>
          <a:prstGeom prst="line">
            <a:avLst/>
          </a:prstGeom>
          <a:ln w="50800">
            <a:solidFill>
              <a:srgbClr val="B23A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4"/>
          <p:cNvSpPr/>
          <p:nvPr/>
        </p:nvSpPr>
        <p:spPr>
          <a:xfrm flipH="1">
            <a:off x="2148840" y="2606040"/>
            <a:ext cx="1554480" cy="1554480"/>
          </a:xfrm>
          <a:prstGeom prst="line">
            <a:avLst/>
          </a:prstGeom>
          <a:ln w="50800">
            <a:solidFill>
              <a:srgbClr val="B23A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5"/>
          <p:cNvSpPr/>
          <p:nvPr/>
        </p:nvSpPr>
        <p:spPr>
          <a:xfrm>
            <a:off x="1554480" y="4617720"/>
            <a:ext cx="27428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Sem monitor, mouse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nem interface gráfica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6"/>
          <p:cNvSpPr/>
          <p:nvPr/>
        </p:nvSpPr>
        <p:spPr>
          <a:xfrm>
            <a:off x="5486400" y="2194560"/>
            <a:ext cx="585180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maioria dos servidores Linux roda em “modo texto”, sem nenhuma interface gráfica instalada.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Isso não é uma limitação — é intencional: </a:t>
            </a:r>
            <a:r>
              <a:rPr lang="en-US" sz="1400" b="0" u="none" strike="noStrike">
                <a:solidFill>
                  <a:srgbClr val="DCE7EC"/>
                </a:solidFill>
                <a:effectLst/>
                <a:uFillTx/>
                <a:latin typeface="Calibri"/>
                <a:ea typeface="Calibri"/>
              </a:rPr>
              <a:t>cada MB de memória e cada ciclo de processamento economizado na interface gráfica é um recurso a mais disponível para a aplicação que realmente importa.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7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Bloco 3 — Linux nos servidores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8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A ÚNICA PORTA DE ENTRADA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Por isso, comandos são fundamentais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preencoded.png"/>
          <p:cNvPicPr/>
          <p:nvPr/>
        </p:nvPicPr>
        <p:blipFill>
          <a:blip r:embed="rId1"/>
          <a:stretch/>
        </p:blipFill>
        <p:spPr>
          <a:xfrm>
            <a:off x="1005840" y="1828800"/>
            <a:ext cx="2194200" cy="219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Shape 2"/>
          <p:cNvSpPr/>
          <p:nvPr/>
        </p:nvSpPr>
        <p:spPr>
          <a:xfrm>
            <a:off x="3749040" y="1737360"/>
            <a:ext cx="7406280" cy="4114440"/>
          </a:xfrm>
          <a:prstGeom prst="roundRect">
            <a:avLst>
              <a:gd name="adj" fmla="val 2222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3"/>
          <p:cNvSpPr/>
          <p:nvPr/>
        </p:nvSpPr>
        <p:spPr>
          <a:xfrm>
            <a:off x="4114800" y="2011680"/>
            <a:ext cx="66747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6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Sem tela, não existe “clicar em um ícone”.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Toda tarefa — navegar entre pastas, ler um arquivo, criar um diretório, apagar algo — precisa ser feita digitando o </a:t>
            </a:r>
            <a:r>
              <a:rPr lang="en-US" sz="14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comando exato</a:t>
            </a: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 em um terminal de texto.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É exatamente esse conjunto de comandos que vamos ver a seguir.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3 — Linux nos servidores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Comandos básicos do Linux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O vocabulário mínimo para sobreviver em um terminal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CD E 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Navegar entre pastas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Shape 2"/>
          <p:cNvSpPr/>
          <p:nvPr/>
        </p:nvSpPr>
        <p:spPr>
          <a:xfrm>
            <a:off x="731520" y="17373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"/>
          <p:cNvSpPr/>
          <p:nvPr/>
        </p:nvSpPr>
        <p:spPr>
          <a:xfrm>
            <a:off x="1143000" y="20804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preencoded.png"/>
          <p:cNvPicPr/>
          <p:nvPr/>
        </p:nvPicPr>
        <p:blipFill>
          <a:blip r:embed="rId1"/>
          <a:stretch/>
        </p:blipFill>
        <p:spPr>
          <a:xfrm>
            <a:off x="1362600" y="22996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Shape 4"/>
          <p:cNvSpPr/>
          <p:nvPr/>
        </p:nvSpPr>
        <p:spPr>
          <a:xfrm>
            <a:off x="2331720" y="19933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2560320" y="19933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cd pasta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5897880" y="19202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Entra em uma pasta. Use cd .. para voltar uma pasta acima, e cd sozinho para ir direto para a pasta do usuário.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731520" y="35661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8"/>
          <p:cNvSpPr/>
          <p:nvPr/>
        </p:nvSpPr>
        <p:spPr>
          <a:xfrm>
            <a:off x="1143000" y="39092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9" name="Image 1" descr="preencoded.png"/>
          <p:cNvPicPr/>
          <p:nvPr/>
        </p:nvPicPr>
        <p:blipFill>
          <a:blip r:embed="rId2"/>
          <a:stretch/>
        </p:blipFill>
        <p:spPr>
          <a:xfrm>
            <a:off x="1362600" y="41284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0" name="Shape 9"/>
          <p:cNvSpPr/>
          <p:nvPr/>
        </p:nvSpPr>
        <p:spPr>
          <a:xfrm>
            <a:off x="2331720" y="38221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0"/>
          <p:cNvSpPr/>
          <p:nvPr/>
        </p:nvSpPr>
        <p:spPr>
          <a:xfrm>
            <a:off x="2560320" y="38221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ls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1"/>
          <p:cNvSpPr/>
          <p:nvPr/>
        </p:nvSpPr>
        <p:spPr>
          <a:xfrm>
            <a:off x="5897880" y="37490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Lista os arquivos e pastas do diretório atual. Use ls -la para ver também os ocultos e os detalhes (dono, tamanho, data).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12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4 — Comandos básicos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3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CAT E NANO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Ver e editar arquivos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2"/>
          <p:cNvSpPr/>
          <p:nvPr/>
        </p:nvSpPr>
        <p:spPr>
          <a:xfrm>
            <a:off x="731520" y="17373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3"/>
          <p:cNvSpPr/>
          <p:nvPr/>
        </p:nvSpPr>
        <p:spPr>
          <a:xfrm>
            <a:off x="1143000" y="20804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preencoded.png"/>
          <p:cNvPicPr/>
          <p:nvPr/>
        </p:nvPicPr>
        <p:blipFill>
          <a:blip r:embed="rId1"/>
          <a:stretch/>
        </p:blipFill>
        <p:spPr>
          <a:xfrm>
            <a:off x="1362600" y="22996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Shape 4"/>
          <p:cNvSpPr/>
          <p:nvPr/>
        </p:nvSpPr>
        <p:spPr>
          <a:xfrm>
            <a:off x="2331720" y="19933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5"/>
          <p:cNvSpPr/>
          <p:nvPr/>
        </p:nvSpPr>
        <p:spPr>
          <a:xfrm>
            <a:off x="2560320" y="19933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cat arquivo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6"/>
          <p:cNvSpPr/>
          <p:nvPr/>
        </p:nvSpPr>
        <p:spPr>
          <a:xfrm>
            <a:off x="5897880" y="19202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Mostra na tela o conteúdo de um arquivo de texto — não edita, só exibe.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7"/>
          <p:cNvSpPr/>
          <p:nvPr/>
        </p:nvSpPr>
        <p:spPr>
          <a:xfrm>
            <a:off x="731520" y="35661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8"/>
          <p:cNvSpPr/>
          <p:nvPr/>
        </p:nvSpPr>
        <p:spPr>
          <a:xfrm>
            <a:off x="1143000" y="39092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1" descr="preencoded.png"/>
          <p:cNvPicPr/>
          <p:nvPr/>
        </p:nvPicPr>
        <p:blipFill>
          <a:blip r:embed="rId2"/>
          <a:stretch/>
        </p:blipFill>
        <p:spPr>
          <a:xfrm>
            <a:off x="1362600" y="41284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Shape 9"/>
          <p:cNvSpPr/>
          <p:nvPr/>
        </p:nvSpPr>
        <p:spPr>
          <a:xfrm>
            <a:off x="2331720" y="38221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2560320" y="38221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nano arquivo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1"/>
          <p:cNvSpPr/>
          <p:nvPr/>
        </p:nvSpPr>
        <p:spPr>
          <a:xfrm>
            <a:off x="5897880" y="37490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Abre um editor de texto simples no terminal. Ctrl+O salva, Ctrl+X sai.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4 — Comandos básicos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3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MKDIR E RM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Criar e remover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2"/>
          <p:cNvSpPr/>
          <p:nvPr/>
        </p:nvSpPr>
        <p:spPr>
          <a:xfrm>
            <a:off x="731520" y="17373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3"/>
          <p:cNvSpPr/>
          <p:nvPr/>
        </p:nvSpPr>
        <p:spPr>
          <a:xfrm>
            <a:off x="1143000" y="20804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0" descr="preencoded.png"/>
          <p:cNvPicPr/>
          <p:nvPr/>
        </p:nvPicPr>
        <p:blipFill>
          <a:blip r:embed="rId1"/>
          <a:stretch/>
        </p:blipFill>
        <p:spPr>
          <a:xfrm>
            <a:off x="1362600" y="22996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Shape 4"/>
          <p:cNvSpPr/>
          <p:nvPr/>
        </p:nvSpPr>
        <p:spPr>
          <a:xfrm>
            <a:off x="2331720" y="19933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5"/>
          <p:cNvSpPr/>
          <p:nvPr/>
        </p:nvSpPr>
        <p:spPr>
          <a:xfrm>
            <a:off x="2560320" y="19933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mkdir pasta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6"/>
          <p:cNvSpPr/>
          <p:nvPr/>
        </p:nvSpPr>
        <p:spPr>
          <a:xfrm>
            <a:off x="5897880" y="19202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Cria uma nova pasta (diretório) com o nome indicado.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Shape 7"/>
          <p:cNvSpPr/>
          <p:nvPr/>
        </p:nvSpPr>
        <p:spPr>
          <a:xfrm>
            <a:off x="731520" y="3566160"/>
            <a:ext cx="10698120" cy="1599840"/>
          </a:xfrm>
          <a:prstGeom prst="roundRect">
            <a:avLst>
              <a:gd name="adj" fmla="val 5714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8"/>
          <p:cNvSpPr/>
          <p:nvPr/>
        </p:nvSpPr>
        <p:spPr>
          <a:xfrm>
            <a:off x="1143000" y="3909240"/>
            <a:ext cx="914040" cy="91404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1" descr="preencoded.png"/>
          <p:cNvPicPr/>
          <p:nvPr/>
        </p:nvPicPr>
        <p:blipFill>
          <a:blip r:embed="rId2"/>
          <a:stretch/>
        </p:blipFill>
        <p:spPr>
          <a:xfrm>
            <a:off x="1362600" y="412848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Shape 9"/>
          <p:cNvSpPr/>
          <p:nvPr/>
        </p:nvSpPr>
        <p:spPr>
          <a:xfrm>
            <a:off x="2331720" y="3822120"/>
            <a:ext cx="3291480" cy="566640"/>
          </a:xfrm>
          <a:prstGeom prst="roundRect">
            <a:avLst>
              <a:gd name="adj" fmla="val 1290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0"/>
          <p:cNvSpPr/>
          <p:nvPr/>
        </p:nvSpPr>
        <p:spPr>
          <a:xfrm>
            <a:off x="2560320" y="3822120"/>
            <a:ext cx="28342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rm arquivo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11"/>
          <p:cNvSpPr/>
          <p:nvPr/>
        </p:nvSpPr>
        <p:spPr>
          <a:xfrm>
            <a:off x="5897880" y="3749040"/>
            <a:ext cx="534888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Remove um arquivo. Para remover uma pasta inteira, use rm -r pasta.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2"/>
          <p:cNvSpPr/>
          <p:nvPr/>
        </p:nvSpPr>
        <p:spPr>
          <a:xfrm>
            <a:off x="731520" y="5440680"/>
            <a:ext cx="10698120" cy="776880"/>
          </a:xfrm>
          <a:prstGeom prst="roundRect">
            <a:avLst>
              <a:gd name="adj" fmla="val 9412"/>
            </a:avLst>
          </a:prstGeom>
          <a:solidFill>
            <a:srgbClr val="FC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6" name="Image 2" descr="preencoded.png"/>
          <p:cNvPicPr/>
          <p:nvPr/>
        </p:nvPicPr>
        <p:blipFill>
          <a:blip r:embed="rId3"/>
          <a:stretch/>
        </p:blipFill>
        <p:spPr>
          <a:xfrm>
            <a:off x="960120" y="5623560"/>
            <a:ext cx="383760" cy="383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7" name="Text 13"/>
          <p:cNvSpPr/>
          <p:nvPr/>
        </p:nvSpPr>
        <p:spPr>
          <a:xfrm>
            <a:off x="1508760" y="5440680"/>
            <a:ext cx="9692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B23A48"/>
                </a:solidFill>
                <a:effectLst/>
                <a:uFillTx/>
                <a:latin typeface="Calibri"/>
                <a:ea typeface="Calibri"/>
              </a:rPr>
              <a:t>rm é definitivo: não existe “lixeira” no terminal. Um arquivo apagado com rm não volta.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4 — Comandos básicos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RECAPITULANDO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os 6 comandos básicos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2"/>
          <p:cNvSpPr/>
          <p:nvPr/>
        </p:nvSpPr>
        <p:spPr>
          <a:xfrm>
            <a:off x="777240" y="169164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3"/>
          <p:cNvSpPr/>
          <p:nvPr/>
        </p:nvSpPr>
        <p:spPr>
          <a:xfrm>
            <a:off x="1005840" y="169164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cd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4"/>
          <p:cNvSpPr/>
          <p:nvPr/>
        </p:nvSpPr>
        <p:spPr>
          <a:xfrm>
            <a:off x="2514600" y="169164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Navega entre pastas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5"/>
          <p:cNvSpPr/>
          <p:nvPr/>
        </p:nvSpPr>
        <p:spPr>
          <a:xfrm>
            <a:off x="6355080" y="169164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6"/>
          <p:cNvSpPr/>
          <p:nvPr/>
        </p:nvSpPr>
        <p:spPr>
          <a:xfrm>
            <a:off x="6583680" y="169164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ls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7"/>
          <p:cNvSpPr/>
          <p:nvPr/>
        </p:nvSpPr>
        <p:spPr>
          <a:xfrm>
            <a:off x="8092440" y="169164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Lista arquivos e pastas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8"/>
          <p:cNvSpPr/>
          <p:nvPr/>
        </p:nvSpPr>
        <p:spPr>
          <a:xfrm>
            <a:off x="777240" y="276156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9"/>
          <p:cNvSpPr/>
          <p:nvPr/>
        </p:nvSpPr>
        <p:spPr>
          <a:xfrm>
            <a:off x="1005840" y="276156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cat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10"/>
          <p:cNvSpPr/>
          <p:nvPr/>
        </p:nvSpPr>
        <p:spPr>
          <a:xfrm>
            <a:off x="2514600" y="276156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Mostra o conteúdo de um arquivo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Shape 11"/>
          <p:cNvSpPr/>
          <p:nvPr/>
        </p:nvSpPr>
        <p:spPr>
          <a:xfrm>
            <a:off x="6355080" y="276156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2"/>
          <p:cNvSpPr/>
          <p:nvPr/>
        </p:nvSpPr>
        <p:spPr>
          <a:xfrm>
            <a:off x="6583680" y="276156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nano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3"/>
          <p:cNvSpPr/>
          <p:nvPr/>
        </p:nvSpPr>
        <p:spPr>
          <a:xfrm>
            <a:off x="8092440" y="276156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Edita um arquivo de texto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14"/>
          <p:cNvSpPr/>
          <p:nvPr/>
        </p:nvSpPr>
        <p:spPr>
          <a:xfrm>
            <a:off x="777240" y="383148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15"/>
          <p:cNvSpPr/>
          <p:nvPr/>
        </p:nvSpPr>
        <p:spPr>
          <a:xfrm>
            <a:off x="1005840" y="383148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mkdir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16"/>
          <p:cNvSpPr/>
          <p:nvPr/>
        </p:nvSpPr>
        <p:spPr>
          <a:xfrm>
            <a:off x="2514600" y="38314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Cria uma nova pasta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17"/>
          <p:cNvSpPr/>
          <p:nvPr/>
        </p:nvSpPr>
        <p:spPr>
          <a:xfrm>
            <a:off x="6355080" y="383148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18"/>
          <p:cNvSpPr/>
          <p:nvPr/>
        </p:nvSpPr>
        <p:spPr>
          <a:xfrm>
            <a:off x="6583680" y="3831480"/>
            <a:ext cx="146268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2A93B"/>
                </a:solidFill>
                <a:effectLst/>
                <a:uFillTx/>
                <a:latin typeface="Courier New"/>
                <a:ea typeface="Courier New"/>
              </a:rPr>
              <a:t>rm</a:t>
            </a:r>
            <a:endParaRPr lang="en-US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19"/>
          <p:cNvSpPr/>
          <p:nvPr/>
        </p:nvSpPr>
        <p:spPr>
          <a:xfrm>
            <a:off x="8092440" y="3831480"/>
            <a:ext cx="32000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Remove um arquivo (ou -r, uma pasta)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20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Bloco 4 — Comandos básicos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21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3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SSH: a ponte até o servidor remoto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Como acessar uma máquina que não está na sua frente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SECURE SHELL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O que é o SSH?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2"/>
          <p:cNvSpPr/>
          <p:nvPr/>
        </p:nvSpPr>
        <p:spPr>
          <a:xfrm>
            <a:off x="1463040" y="2377440"/>
            <a:ext cx="1828440" cy="182844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1" name="Image 0" descr="preencoded.png"/>
          <p:cNvPicPr/>
          <p:nvPr/>
        </p:nvPicPr>
        <p:blipFill>
          <a:blip r:embed="rId1"/>
          <a:stretch/>
        </p:blipFill>
        <p:spPr>
          <a:xfrm>
            <a:off x="1901880" y="2816280"/>
            <a:ext cx="950760" cy="9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Text 3"/>
          <p:cNvSpPr/>
          <p:nvPr/>
        </p:nvSpPr>
        <p:spPr>
          <a:xfrm>
            <a:off x="4663440" y="2011680"/>
            <a:ext cx="667476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SSH (Secure Shell) é um protocolo que conecta o terminal do seu computador ao terminal de outro computador, </a:t>
            </a: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através da internet, com tudo criptografado</a:t>
            </a:r>
            <a:r>
              <a:rPr lang="en-US" sz="15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 — ninguém no meio do caminho consegue ler o que é digitado.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4"/>
          <p:cNvSpPr/>
          <p:nvPr/>
        </p:nvSpPr>
        <p:spPr>
          <a:xfrm>
            <a:off x="4663440" y="4343400"/>
            <a:ext cx="6674760" cy="1096920"/>
          </a:xfrm>
          <a:prstGeom prst="roundRect">
            <a:avLst>
              <a:gd name="adj" fmla="val 6667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5"/>
          <p:cNvSpPr/>
          <p:nvPr/>
        </p:nvSpPr>
        <p:spPr>
          <a:xfrm>
            <a:off x="4937760" y="4343400"/>
            <a:ext cx="6126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É como se o seu teclado e sua tela fossem “teleportados” para dentro do outro computador — tudo que você digita roda lá, não aqui.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6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5 — SSH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7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SEM ELE, NÃO TEM COMO ACESSAR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Por que o SSH é essencial no dia a dia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29" name="Image 0" descr="preencoded.png"/>
          <p:cNvPicPr/>
          <p:nvPr/>
        </p:nvPicPr>
        <p:blipFill>
          <a:blip r:embed="rId1"/>
          <a:stretch/>
        </p:blipFill>
        <p:spPr>
          <a:xfrm>
            <a:off x="822960" y="2743200"/>
            <a:ext cx="1188360" cy="11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Image 1" descr="preencoded.png"/>
          <p:cNvPicPr/>
          <p:nvPr/>
        </p:nvPicPr>
        <p:blipFill>
          <a:blip r:embed="rId2"/>
          <a:stretch/>
        </p:blipFill>
        <p:spPr>
          <a:xfrm>
            <a:off x="2331720" y="306324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Image 2" descr="preencoded.png"/>
          <p:cNvPicPr/>
          <p:nvPr/>
        </p:nvPicPr>
        <p:blipFill>
          <a:blip r:embed="rId3"/>
          <a:stretch/>
        </p:blipFill>
        <p:spPr>
          <a:xfrm>
            <a:off x="3246120" y="265176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Image 3" descr="preencoded.png"/>
          <p:cNvPicPr/>
          <p:nvPr/>
        </p:nvPicPr>
        <p:blipFill>
          <a:blip r:embed="rId4"/>
          <a:stretch/>
        </p:blipFill>
        <p:spPr>
          <a:xfrm>
            <a:off x="4846320" y="3063240"/>
            <a:ext cx="639720" cy="63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Image 4" descr="preencoded.png"/>
          <p:cNvPicPr/>
          <p:nvPr/>
        </p:nvPicPr>
        <p:blipFill>
          <a:blip r:embed="rId5"/>
          <a:stretch/>
        </p:blipFill>
        <p:spPr>
          <a:xfrm>
            <a:off x="5760720" y="2651760"/>
            <a:ext cx="1279800" cy="127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4" name="Text 2"/>
          <p:cNvSpPr/>
          <p:nvPr/>
        </p:nvSpPr>
        <p:spPr>
          <a:xfrm>
            <a:off x="457200" y="3977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seu computador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Text 3"/>
          <p:cNvSpPr/>
          <p:nvPr/>
        </p:nvSpPr>
        <p:spPr>
          <a:xfrm>
            <a:off x="3017520" y="39776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internet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4"/>
          <p:cNvSpPr/>
          <p:nvPr/>
        </p:nvSpPr>
        <p:spPr>
          <a:xfrm>
            <a:off x="5394960" y="3977640"/>
            <a:ext cx="1919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servidor em outro país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5"/>
          <p:cNvSpPr/>
          <p:nvPr/>
        </p:nvSpPr>
        <p:spPr>
          <a:xfrm>
            <a:off x="7680960" y="2377440"/>
            <a:ext cx="37486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Servidores ficam em data centers — muitas vezes em outro país — </a:t>
            </a:r>
            <a:r>
              <a:rPr lang="en-US" sz="1400" b="1" u="none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sem teclado, sem mouse e sem monitor conectados.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O SSH é a única “porta de entrada”: é como todo programador acessa e administra esses servidores no dia a dia.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6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Bloco 5 — SSH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7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CONECTANDO VIA SSH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A sintaxe do comando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Shape 2"/>
          <p:cNvSpPr/>
          <p:nvPr/>
        </p:nvSpPr>
        <p:spPr>
          <a:xfrm>
            <a:off x="1371600" y="1828800"/>
            <a:ext cx="9417960" cy="822600"/>
          </a:xfrm>
          <a:prstGeom prst="roundRect">
            <a:avLst>
              <a:gd name="adj" fmla="val 8889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3"/>
          <p:cNvSpPr/>
          <p:nvPr/>
        </p:nvSpPr>
        <p:spPr>
          <a:xfrm>
            <a:off x="1600200" y="1828800"/>
            <a:ext cx="89607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ssh usuario@endereco -p porta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Shape 4"/>
          <p:cNvSpPr/>
          <p:nvPr/>
        </p:nvSpPr>
        <p:spPr>
          <a:xfrm>
            <a:off x="1371600" y="3108960"/>
            <a:ext cx="9417960" cy="86832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5"/>
          <p:cNvSpPr/>
          <p:nvPr/>
        </p:nvSpPr>
        <p:spPr>
          <a:xfrm>
            <a:off x="1600200" y="310896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ourier New"/>
                <a:ea typeface="Courier New"/>
              </a:rPr>
              <a:t>usuario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6"/>
          <p:cNvSpPr/>
          <p:nvPr/>
        </p:nvSpPr>
        <p:spPr>
          <a:xfrm>
            <a:off x="3931920" y="3108960"/>
            <a:ext cx="667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a conta que você vai acessar no servidor remoto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7"/>
          <p:cNvSpPr/>
          <p:nvPr/>
        </p:nvSpPr>
        <p:spPr>
          <a:xfrm>
            <a:off x="1371600" y="4096440"/>
            <a:ext cx="9417960" cy="86832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8"/>
          <p:cNvSpPr/>
          <p:nvPr/>
        </p:nvSpPr>
        <p:spPr>
          <a:xfrm>
            <a:off x="1600200" y="409644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ourier New"/>
                <a:ea typeface="Courier New"/>
              </a:rPr>
              <a:t>endereco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9"/>
          <p:cNvSpPr/>
          <p:nvPr/>
        </p:nvSpPr>
        <p:spPr>
          <a:xfrm>
            <a:off x="3931920" y="4096440"/>
            <a:ext cx="667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o IP (ou nome) da máquina que você quer acessar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10"/>
          <p:cNvSpPr/>
          <p:nvPr/>
        </p:nvSpPr>
        <p:spPr>
          <a:xfrm>
            <a:off x="1371600" y="5083920"/>
            <a:ext cx="9417960" cy="868320"/>
          </a:xfrm>
          <a:prstGeom prst="roundRect">
            <a:avLst>
              <a:gd name="adj" fmla="val 631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1"/>
          <p:cNvSpPr/>
          <p:nvPr/>
        </p:nvSpPr>
        <p:spPr>
          <a:xfrm>
            <a:off x="1600200" y="5083920"/>
            <a:ext cx="219420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ourier New"/>
                <a:ea typeface="Courier New"/>
              </a:rPr>
              <a:t>porta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2"/>
          <p:cNvSpPr/>
          <p:nvPr/>
        </p:nvSpPr>
        <p:spPr>
          <a:xfrm>
            <a:off x="3931920" y="5083920"/>
            <a:ext cx="667476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cada servidor pode expor o SSH em uma porta diferente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5 — SSH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5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6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Docker por dentro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Dockerfile → imagem → container → Docker Hub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O FLUXO DO DOCKER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Da receita ao prato pronto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Shape 2"/>
          <p:cNvSpPr/>
          <p:nvPr/>
        </p:nvSpPr>
        <p:spPr>
          <a:xfrm>
            <a:off x="914400" y="2011680"/>
            <a:ext cx="3017160" cy="338292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Shape 3"/>
          <p:cNvSpPr/>
          <p:nvPr/>
        </p:nvSpPr>
        <p:spPr>
          <a:xfrm>
            <a:off x="1874520" y="2468880"/>
            <a:ext cx="1096920" cy="1096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5" name="Image 0" descr="preencoded.png"/>
          <p:cNvPicPr/>
          <p:nvPr/>
        </p:nvPicPr>
        <p:blipFill>
          <a:blip r:embed="rId1"/>
          <a:stretch/>
        </p:blipFill>
        <p:spPr>
          <a:xfrm>
            <a:off x="2138040" y="2732400"/>
            <a:ext cx="570240" cy="57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4"/>
          <p:cNvSpPr/>
          <p:nvPr/>
        </p:nvSpPr>
        <p:spPr>
          <a:xfrm>
            <a:off x="1097280" y="3794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Dockerfile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1097280" y="42976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O código em C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8" name="Image 1" descr="preencoded.png"/>
          <p:cNvPicPr/>
          <p:nvPr/>
        </p:nvPicPr>
        <p:blipFill>
          <a:blip r:embed="rId2"/>
          <a:stretch/>
        </p:blipFill>
        <p:spPr>
          <a:xfrm>
            <a:off x="4096440" y="3474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Shape 6"/>
          <p:cNvSpPr/>
          <p:nvPr/>
        </p:nvSpPr>
        <p:spPr>
          <a:xfrm>
            <a:off x="4709160" y="2011680"/>
            <a:ext cx="3017160" cy="3382920"/>
          </a:xfrm>
          <a:prstGeom prst="roundRect">
            <a:avLst>
              <a:gd name="adj" fmla="val 3636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7"/>
          <p:cNvSpPr/>
          <p:nvPr/>
        </p:nvSpPr>
        <p:spPr>
          <a:xfrm>
            <a:off x="5669280" y="2468880"/>
            <a:ext cx="1096920" cy="109692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1" name="Image 2" descr="preencoded.png"/>
          <p:cNvPicPr/>
          <p:nvPr/>
        </p:nvPicPr>
        <p:blipFill>
          <a:blip r:embed="rId3"/>
          <a:stretch/>
        </p:blipFill>
        <p:spPr>
          <a:xfrm>
            <a:off x="5932800" y="2732400"/>
            <a:ext cx="570240" cy="57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8"/>
          <p:cNvSpPr/>
          <p:nvPr/>
        </p:nvSpPr>
        <p:spPr>
          <a:xfrm>
            <a:off x="4892040" y="3794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Imagem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9"/>
          <p:cNvSpPr/>
          <p:nvPr/>
        </p:nvSpPr>
        <p:spPr>
          <a:xfrm>
            <a:off x="4892040" y="42976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O código compilado (“traduzido”)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3" descr="preencoded.png"/>
          <p:cNvPicPr/>
          <p:nvPr/>
        </p:nvPicPr>
        <p:blipFill>
          <a:blip r:embed="rId4"/>
          <a:stretch/>
        </p:blipFill>
        <p:spPr>
          <a:xfrm>
            <a:off x="7891200" y="3474720"/>
            <a:ext cx="45684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Shape 10"/>
          <p:cNvSpPr/>
          <p:nvPr/>
        </p:nvSpPr>
        <p:spPr>
          <a:xfrm>
            <a:off x="8503920" y="2011680"/>
            <a:ext cx="3017160" cy="3382920"/>
          </a:xfrm>
          <a:prstGeom prst="roundRect">
            <a:avLst>
              <a:gd name="adj" fmla="val 3636"/>
            </a:avLst>
          </a:prstGeom>
          <a:solidFill>
            <a:srgbClr val="1B3A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Shape 11"/>
          <p:cNvSpPr/>
          <p:nvPr/>
        </p:nvSpPr>
        <p:spPr>
          <a:xfrm>
            <a:off x="9464040" y="2468880"/>
            <a:ext cx="1096920" cy="109692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7" name="Image 4" descr="preencoded.png"/>
          <p:cNvPicPr/>
          <p:nvPr/>
        </p:nvPicPr>
        <p:blipFill>
          <a:blip r:embed="rId5"/>
          <a:stretch/>
        </p:blipFill>
        <p:spPr>
          <a:xfrm>
            <a:off x="9727560" y="2732400"/>
            <a:ext cx="570240" cy="570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Text 12"/>
          <p:cNvSpPr/>
          <p:nvPr/>
        </p:nvSpPr>
        <p:spPr>
          <a:xfrm>
            <a:off x="8686800" y="3794760"/>
            <a:ext cx="265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Container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13"/>
          <p:cNvSpPr/>
          <p:nvPr/>
        </p:nvSpPr>
        <p:spPr>
          <a:xfrm>
            <a:off x="8686800" y="4297680"/>
            <a:ext cx="265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O programa rodando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6.1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Dockerfile — o código fonte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Shape 2"/>
          <p:cNvSpPr/>
          <p:nvPr/>
        </p:nvSpPr>
        <p:spPr>
          <a:xfrm>
            <a:off x="1508760" y="2423160"/>
            <a:ext cx="1919880" cy="191988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5" name="Image 0" descr="preencoded.png"/>
          <p:cNvPicPr/>
          <p:nvPr/>
        </p:nvPicPr>
        <p:blipFill>
          <a:blip r:embed="rId1"/>
          <a:stretch/>
        </p:blipFill>
        <p:spPr>
          <a:xfrm>
            <a:off x="1969560" y="2883960"/>
            <a:ext cx="998280" cy="99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6" name="Text 3"/>
          <p:cNvSpPr/>
          <p:nvPr/>
        </p:nvSpPr>
        <p:spPr>
          <a:xfrm>
            <a:off x="4846320" y="2011680"/>
            <a:ext cx="649188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500" b="1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É um arquivo de texto com o passo a passo para montar o ambiente: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• qual sistema usar como base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• quais programas instalar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• quais arquivos copiar para dentro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• quais comandos rodar ao iniciar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29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6.2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Imagem — o código compilado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2"/>
          <p:cNvSpPr/>
          <p:nvPr/>
        </p:nvSpPr>
        <p:spPr>
          <a:xfrm>
            <a:off x="1508760" y="2423160"/>
            <a:ext cx="1919880" cy="191988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2" name="Image 0" descr="preencoded.png"/>
          <p:cNvPicPr/>
          <p:nvPr/>
        </p:nvPicPr>
        <p:blipFill>
          <a:blip r:embed="rId1"/>
          <a:stretch/>
        </p:blipFill>
        <p:spPr>
          <a:xfrm>
            <a:off x="1969560" y="2883960"/>
            <a:ext cx="998280" cy="99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3" name="Text 3"/>
          <p:cNvSpPr/>
          <p:nvPr/>
        </p:nvSpPr>
        <p:spPr>
          <a:xfrm>
            <a:off x="4846320" y="2011680"/>
            <a:ext cx="64918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É o resultado de seguir a receita do Dockerfile: </a:t>
            </a: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um pacote “congelado” com tudo que a aplicação precisa para rodar</a:t>
            </a: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 — sistema, bibliotecas, código, configurações.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A imagem em si não está “rodando” — é só o molde, pronto para ser usado quantas vezes for preciso.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6.3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Container — o programa rodando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2"/>
          <p:cNvSpPr/>
          <p:nvPr/>
        </p:nvSpPr>
        <p:spPr>
          <a:xfrm>
            <a:off x="1508760" y="2423160"/>
            <a:ext cx="1919880" cy="191988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9" name="Image 0" descr="preencoded.png"/>
          <p:cNvPicPr/>
          <p:nvPr/>
        </p:nvPicPr>
        <p:blipFill>
          <a:blip r:embed="rId1"/>
          <a:stretch/>
        </p:blipFill>
        <p:spPr>
          <a:xfrm>
            <a:off x="1969560" y="2883960"/>
            <a:ext cx="998280" cy="99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0" name="Text 3"/>
          <p:cNvSpPr/>
          <p:nvPr/>
        </p:nvSpPr>
        <p:spPr>
          <a:xfrm>
            <a:off x="4846320" y="2011680"/>
            <a:ext cx="649188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É uma cópia da imagem </a:t>
            </a: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libri"/>
                <a:ea typeface="Calibri"/>
              </a:rPr>
              <a:t>em execução</a:t>
            </a: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 — o processo vivo da aplicação rodando, isolado dos demais.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Você pode rodar várias cópias (containers) da mesma imagem ao mesmo tempo, cada uma isolada das outras.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F2A93B"/>
                </a:solidFill>
                <a:effectLst/>
                <a:uFillTx/>
                <a:latin typeface="Calibri"/>
                <a:ea typeface="Calibri"/>
              </a:rPr>
              <a:t>6.4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Docker Hub — a prateleira de imagens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2"/>
          <p:cNvSpPr/>
          <p:nvPr/>
        </p:nvSpPr>
        <p:spPr>
          <a:xfrm>
            <a:off x="1691640" y="2331720"/>
            <a:ext cx="1919880" cy="1919880"/>
          </a:xfrm>
          <a:prstGeom prst="ellipse">
            <a:avLst/>
          </a:prstGeom>
          <a:solidFill>
            <a:srgbClr val="2E6F8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6" name="Image 0" descr="preencoded.png"/>
          <p:cNvPicPr/>
          <p:nvPr/>
        </p:nvPicPr>
        <p:blipFill>
          <a:blip r:embed="rId1"/>
          <a:stretch/>
        </p:blipFill>
        <p:spPr>
          <a:xfrm>
            <a:off x="2152440" y="2792520"/>
            <a:ext cx="998280" cy="99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7" name="Text 3"/>
          <p:cNvSpPr/>
          <p:nvPr/>
        </p:nvSpPr>
        <p:spPr>
          <a:xfrm>
            <a:off x="5029200" y="2286000"/>
            <a:ext cx="630900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É um repositório na nuvem cheio de imagens já prontas </a:t>
            </a:r>
            <a:r>
              <a:rPr lang="en-US" sz="14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(Nginx, MySQL, Ubuntu, Python...)</a:t>
            </a: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que qualquer pessoa pode baixar e usar, sem precisar montar tudo do zero.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5029200" y="4206240"/>
            <a:ext cx="4571640" cy="685440"/>
          </a:xfrm>
          <a:prstGeom prst="roundRect">
            <a:avLst>
              <a:gd name="adj" fmla="val 10667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5257800" y="4206240"/>
            <a:ext cx="4114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docker pull nginx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32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6.5 E 6.6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Instalar e testar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"/>
          <p:cNvSpPr/>
          <p:nvPr/>
        </p:nvSpPr>
        <p:spPr>
          <a:xfrm>
            <a:off x="731520" y="1737360"/>
            <a:ext cx="10698120" cy="1919880"/>
          </a:xfrm>
          <a:prstGeom prst="roundRect">
            <a:avLst>
              <a:gd name="adj" fmla="val 4762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3"/>
          <p:cNvSpPr/>
          <p:nvPr/>
        </p:nvSpPr>
        <p:spPr>
          <a:xfrm>
            <a:off x="1051560" y="19202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1. Instalar o Docker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4"/>
          <p:cNvSpPr/>
          <p:nvPr/>
        </p:nvSpPr>
        <p:spPr>
          <a:xfrm>
            <a:off x="1051560" y="2331720"/>
            <a:ext cx="10058040" cy="639720"/>
          </a:xfrm>
          <a:prstGeom prst="roundRect">
            <a:avLst>
              <a:gd name="adj" fmla="val 11429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5"/>
          <p:cNvSpPr/>
          <p:nvPr/>
        </p:nvSpPr>
        <p:spPr>
          <a:xfrm>
            <a:off x="1280160" y="233172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sudo apt update &amp;&amp; sudo apt install -y docker.io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6"/>
          <p:cNvSpPr/>
          <p:nvPr/>
        </p:nvSpPr>
        <p:spPr>
          <a:xfrm>
            <a:off x="1051560" y="301752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Em uma distribuição baseada em Debian/Ubuntu, instala o Docker pelo gerenciador de pacotes do sistema.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Shape 7"/>
          <p:cNvSpPr/>
          <p:nvPr/>
        </p:nvSpPr>
        <p:spPr>
          <a:xfrm>
            <a:off x="731520" y="3886200"/>
            <a:ext cx="10698120" cy="1874160"/>
          </a:xfrm>
          <a:prstGeom prst="roundRect">
            <a:avLst>
              <a:gd name="adj" fmla="val 4878"/>
            </a:avLst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 8"/>
          <p:cNvSpPr/>
          <p:nvPr/>
        </p:nvSpPr>
        <p:spPr>
          <a:xfrm>
            <a:off x="1051560" y="406908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3A4B"/>
                </a:solidFill>
                <a:effectLst/>
                <a:uFillTx/>
                <a:latin typeface="Cambria"/>
                <a:ea typeface="Cambria"/>
              </a:rPr>
              <a:t>2. Testar a instalação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Shape 9"/>
          <p:cNvSpPr/>
          <p:nvPr/>
        </p:nvSpPr>
        <p:spPr>
          <a:xfrm>
            <a:off x="1051560" y="4480560"/>
            <a:ext cx="10058040" cy="639720"/>
          </a:xfrm>
          <a:prstGeom prst="roundRect">
            <a:avLst>
              <a:gd name="adj" fmla="val 11429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10"/>
          <p:cNvSpPr/>
          <p:nvPr/>
        </p:nvSpPr>
        <p:spPr>
          <a:xfrm>
            <a:off x="1280160" y="448056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sudo docker run hello-world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11"/>
          <p:cNvSpPr/>
          <p:nvPr/>
        </p:nvSpPr>
        <p:spPr>
          <a:xfrm>
            <a:off x="1051560" y="5166360"/>
            <a:ext cx="100580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i="1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Se essa imagem mínima de teste rodar e imprimir uma mensagem de sucesso, o Docker está instalado e funcionando.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 12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13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6.7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docker ps — quem está rodando agora?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2"/>
          <p:cNvSpPr/>
          <p:nvPr/>
        </p:nvSpPr>
        <p:spPr>
          <a:xfrm>
            <a:off x="1371600" y="1737360"/>
            <a:ext cx="4571640" cy="776880"/>
          </a:xfrm>
          <a:prstGeom prst="roundRect">
            <a:avLst>
              <a:gd name="adj" fmla="val 9412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"/>
          <p:cNvSpPr/>
          <p:nvPr/>
        </p:nvSpPr>
        <p:spPr>
          <a:xfrm>
            <a:off x="1600200" y="1737360"/>
            <a:ext cx="41144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docker ps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Text 4"/>
          <p:cNvSpPr/>
          <p:nvPr/>
        </p:nvSpPr>
        <p:spPr>
          <a:xfrm>
            <a:off x="1371600" y="2697480"/>
            <a:ext cx="9417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Lista todos os containers em execução neste momento: nome, imagem usada, portas publicadas e há quanto tempo está rodando.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Shape 5"/>
          <p:cNvSpPr/>
          <p:nvPr/>
        </p:nvSpPr>
        <p:spPr>
          <a:xfrm>
            <a:off x="1371600" y="3520440"/>
            <a:ext cx="9417960" cy="2194200"/>
          </a:xfrm>
          <a:prstGeom prst="roundRect">
            <a:avLst>
              <a:gd name="adj" fmla="val 3333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2" name="Text 6"/>
          <p:cNvSpPr/>
          <p:nvPr/>
        </p:nvSpPr>
        <p:spPr>
          <a:xfrm>
            <a:off x="1600200" y="3611880"/>
            <a:ext cx="896076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CONTAINER ID   IMAGE     COMMAND       STATUS         PORTS                  NAMES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a1b2c3d4e5f6   nginx     "nginx -g..."  Up 2 minutes   0.0.0.0:8080-&gt;80/tcp   meusite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7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6 — Docker por dentro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8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5" name="Image 0" descr="preencoded.png"/>
          <p:cNvPicPr/>
          <p:nvPr/>
        </p:nvPicPr>
        <p:blipFill>
          <a:blip r:embed="rId1">
            <a:alphaModFix amt="12000"/>
          </a:blip>
          <a:stretch/>
        </p:blipFill>
        <p:spPr>
          <a:xfrm>
            <a:off x="8899920" y="3291840"/>
            <a:ext cx="2925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6" name="Text 0"/>
          <p:cNvSpPr/>
          <p:nvPr/>
        </p:nvSpPr>
        <p:spPr>
          <a:xfrm>
            <a:off x="822960" y="2148840"/>
            <a:ext cx="2742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4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7</a:t>
            </a:r>
            <a:endParaRPr lang="en-U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1"/>
          <p:cNvSpPr/>
          <p:nvPr/>
        </p:nvSpPr>
        <p:spPr>
          <a:xfrm>
            <a:off x="868680" y="3520440"/>
            <a:ext cx="98751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Grupos Linux e o segredo do sudo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 2"/>
          <p:cNvSpPr/>
          <p:nvPr/>
        </p:nvSpPr>
        <p:spPr>
          <a:xfrm>
            <a:off x="868680" y="4343400"/>
            <a:ext cx="9600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C7D8E0"/>
                </a:solidFill>
                <a:effectLst/>
                <a:uFillTx/>
                <a:latin typeface="Calibri"/>
                <a:ea typeface="Calibri"/>
              </a:rPr>
              <a:t>Por que às vezes docker ps funciona sozinho, e às vezes não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3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Text 4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35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7.1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O que é um grupo no Linux?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2"/>
          <p:cNvSpPr/>
          <p:nvPr/>
        </p:nvSpPr>
        <p:spPr>
          <a:xfrm>
            <a:off x="1508760" y="2331720"/>
            <a:ext cx="1919880" cy="1919880"/>
          </a:xfrm>
          <a:prstGeom prst="ellipse">
            <a:avLst/>
          </a:prstGeom>
          <a:solidFill>
            <a:srgbClr val="E8F0F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4" name="Image 0" descr="preencoded.png"/>
          <p:cNvPicPr/>
          <p:nvPr/>
        </p:nvPicPr>
        <p:blipFill>
          <a:blip r:embed="rId1"/>
          <a:stretch/>
        </p:blipFill>
        <p:spPr>
          <a:xfrm>
            <a:off x="1969560" y="2792520"/>
            <a:ext cx="998280" cy="998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5" name="Text 3"/>
          <p:cNvSpPr/>
          <p:nvPr/>
        </p:nvSpPr>
        <p:spPr>
          <a:xfrm>
            <a:off x="4846320" y="1920240"/>
            <a:ext cx="649188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14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No Linux, cada usuário pode pertencer a um ou mais grupos, e cada grupo carrega certas permissões.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Existe até um grupo chamado </a:t>
            </a:r>
            <a:r>
              <a:rPr lang="en-US" sz="1450" b="1" u="none" strike="noStrike">
                <a:solidFill>
                  <a:srgbClr val="1B3A4B"/>
                </a:solidFill>
                <a:effectLst/>
                <a:uFillTx/>
                <a:latin typeface="Courier New"/>
                <a:ea typeface="Courier New"/>
              </a:rPr>
              <a:t>docker</a:t>
            </a:r>
            <a:r>
              <a:rPr lang="en-US" sz="145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, que dá acesso ao daemon do Docker sem precisar de sudo toda vez.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7 — Grupos Linux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Text 0"/>
          <p:cNvSpPr/>
          <p:nvPr/>
        </p:nvSpPr>
        <p:spPr>
          <a:xfrm>
            <a:off x="731520" y="38412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E6F8E"/>
                </a:solidFill>
                <a:effectLst/>
                <a:uFillTx/>
                <a:latin typeface="Calibri"/>
                <a:ea typeface="Calibri"/>
              </a:rPr>
              <a:t>7.2 — NA PRÁTICA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1"/>
          <p:cNvSpPr/>
          <p:nvPr/>
        </p:nvSpPr>
        <p:spPr>
          <a:xfrm>
            <a:off x="731520" y="685800"/>
            <a:ext cx="10698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5202B"/>
                </a:solidFill>
                <a:effectLst/>
                <a:uFillTx/>
                <a:latin typeface="Cambria"/>
                <a:ea typeface="Cambria"/>
              </a:rPr>
              <a:t>docker ps vs. sudo docker ps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2"/>
          <p:cNvSpPr/>
          <p:nvPr/>
        </p:nvSpPr>
        <p:spPr>
          <a:xfrm>
            <a:off x="731520" y="1691640"/>
            <a:ext cx="5120280" cy="4068720"/>
          </a:xfrm>
          <a:prstGeom prst="roundRect">
            <a:avLst>
              <a:gd name="adj" fmla="val 2247"/>
            </a:avLst>
          </a:prstGeom>
          <a:solidFill>
            <a:srgbClr val="FCEAE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Shape 3"/>
          <p:cNvSpPr/>
          <p:nvPr/>
        </p:nvSpPr>
        <p:spPr>
          <a:xfrm>
            <a:off x="2880360" y="210312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2" name="Image 0" descr="preencoded.png"/>
          <p:cNvPicPr/>
          <p:nvPr/>
        </p:nvPicPr>
        <p:blipFill>
          <a:blip r:embed="rId1"/>
          <a:stretch/>
        </p:blipFill>
        <p:spPr>
          <a:xfrm>
            <a:off x="3078000" y="230076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3" name="Shape 4"/>
          <p:cNvSpPr/>
          <p:nvPr/>
        </p:nvSpPr>
        <p:spPr>
          <a:xfrm>
            <a:off x="1188720" y="3063240"/>
            <a:ext cx="4205880" cy="594000"/>
          </a:xfrm>
          <a:prstGeom prst="roundRect">
            <a:avLst>
              <a:gd name="adj" fmla="val 12308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 5"/>
          <p:cNvSpPr/>
          <p:nvPr/>
        </p:nvSpPr>
        <p:spPr>
          <a:xfrm>
            <a:off x="1417320" y="306324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docker 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"/>
          <p:cNvSpPr/>
          <p:nvPr/>
        </p:nvSpPr>
        <p:spPr>
          <a:xfrm>
            <a:off x="1188720" y="37490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23A48"/>
                </a:solidFill>
                <a:effectLst/>
                <a:uFillTx/>
                <a:latin typeface="Courier New"/>
                <a:ea typeface="Courier New"/>
              </a:rPr>
              <a:t>permission denied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 7"/>
          <p:cNvSpPr/>
          <p:nvPr/>
        </p:nvSpPr>
        <p:spPr>
          <a:xfrm>
            <a:off x="1005840" y="425196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O daemon do Docker roda com privilégios de root. Um usuário comum, fora do grupo docker, não tem permissão para falar com ele diretamente.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Shape 8"/>
          <p:cNvSpPr/>
          <p:nvPr/>
        </p:nvSpPr>
        <p:spPr>
          <a:xfrm>
            <a:off x="6309360" y="1691640"/>
            <a:ext cx="5120280" cy="4068720"/>
          </a:xfrm>
          <a:prstGeom prst="roundRect">
            <a:avLst>
              <a:gd name="adj" fmla="val 2247"/>
            </a:avLst>
          </a:prstGeom>
          <a:solidFill>
            <a:srgbClr val="E7F3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9"/>
          <p:cNvSpPr/>
          <p:nvPr/>
        </p:nvSpPr>
        <p:spPr>
          <a:xfrm>
            <a:off x="8458200" y="2103120"/>
            <a:ext cx="822600" cy="82260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Image 1" descr="preencoded.png"/>
          <p:cNvPicPr/>
          <p:nvPr/>
        </p:nvPicPr>
        <p:blipFill>
          <a:blip r:embed="rId2"/>
          <a:stretch/>
        </p:blipFill>
        <p:spPr>
          <a:xfrm>
            <a:off x="8655840" y="2300760"/>
            <a:ext cx="427680" cy="427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Shape 10"/>
          <p:cNvSpPr/>
          <p:nvPr/>
        </p:nvSpPr>
        <p:spPr>
          <a:xfrm>
            <a:off x="6766560" y="3063240"/>
            <a:ext cx="4205880" cy="594000"/>
          </a:xfrm>
          <a:prstGeom prst="roundRect">
            <a:avLst>
              <a:gd name="adj" fmla="val 12308"/>
            </a:avLst>
          </a:prstGeom>
          <a:solidFill>
            <a:srgbClr val="1226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1"/>
          <p:cNvSpPr/>
          <p:nvPr/>
        </p:nvSpPr>
        <p:spPr>
          <a:xfrm>
            <a:off x="6995160" y="3063240"/>
            <a:ext cx="37486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FE3C7"/>
                </a:solidFill>
                <a:effectLst/>
                <a:uFillTx/>
                <a:latin typeface="Courier New"/>
                <a:ea typeface="Courier New"/>
              </a:rPr>
              <a:t>sudo docker ps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Text 12"/>
          <p:cNvSpPr/>
          <p:nvPr/>
        </p:nvSpPr>
        <p:spPr>
          <a:xfrm>
            <a:off x="6766560" y="3749040"/>
            <a:ext cx="4205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8B57"/>
                </a:solidFill>
                <a:effectLst/>
                <a:uFillTx/>
                <a:latin typeface="Courier New"/>
                <a:ea typeface="Courier New"/>
              </a:rPr>
              <a:t>funciona (lista os containers)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3"/>
          <p:cNvSpPr/>
          <p:nvPr/>
        </p:nvSpPr>
        <p:spPr>
          <a:xfrm>
            <a:off x="6583680" y="4251960"/>
            <a:ext cx="4571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sudo eleva a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permissão na hora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(pedindo a senha).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Já adicionar o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usuário ao grupo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docker (com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logout/login) faz o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docker ps funcionar </a:t>
            </a:r>
            <a:r>
              <a:rPr lang="en-US" sz="1200" b="0" u="none" strike="noStrike">
                <a:solidFill>
                  <a:srgbClr val="15202B"/>
                </a:solidFill>
                <a:effectLst/>
                <a:uFillTx/>
                <a:latin typeface="Calibri"/>
                <a:ea typeface="Calibri"/>
              </a:rPr>
              <a:t>sem sudo.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Text 14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Bloco 7 — Grupos Linux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15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B73"/>
                </a:solidFill>
                <a:effectLst/>
                <a:uFillTx/>
                <a:latin typeface="Calibri"/>
                <a:ea typeface="Calibri"/>
              </a:rPr>
              <a:t>37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0"/>
          <p:cNvSpPr/>
          <p:nvPr/>
        </p:nvSpPr>
        <p:spPr>
          <a:xfrm>
            <a:off x="731520" y="50292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Recapitulando tudo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7" name="Image 0" descr="preencoded.png"/>
          <p:cNvPicPr/>
          <p:nvPr/>
        </p:nvPicPr>
        <p:blipFill>
          <a:blip r:embed="rId1"/>
          <a:stretch/>
        </p:blipFill>
        <p:spPr>
          <a:xfrm>
            <a:off x="777240" y="13899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8" name="Text 1"/>
          <p:cNvSpPr/>
          <p:nvPr/>
        </p:nvSpPr>
        <p:spPr>
          <a:xfrm>
            <a:off x="1234440" y="137160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Compartilhar hardware entre aplicações economiza dinheiro, energia e tempo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69" name="Image 1" descr="preencoded.png"/>
          <p:cNvPicPr/>
          <p:nvPr/>
        </p:nvPicPr>
        <p:blipFill>
          <a:blip r:embed="rId2"/>
          <a:stretch/>
        </p:blipFill>
        <p:spPr>
          <a:xfrm>
            <a:off x="777240" y="195696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0" name="Text 2"/>
          <p:cNvSpPr/>
          <p:nvPr/>
        </p:nvSpPr>
        <p:spPr>
          <a:xfrm>
            <a:off x="1234440" y="193860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 linha do tempo foi: 1 app por máquina → máquinas virtuais → containers (Docker)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1" name="Image 2" descr="preencoded.png"/>
          <p:cNvPicPr/>
          <p:nvPr/>
        </p:nvPicPr>
        <p:blipFill>
          <a:blip r:embed="rId3"/>
          <a:stretch/>
        </p:blipFill>
        <p:spPr>
          <a:xfrm>
            <a:off x="777240" y="2523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Text 3"/>
          <p:cNvSpPr/>
          <p:nvPr/>
        </p:nvSpPr>
        <p:spPr>
          <a:xfrm>
            <a:off x="1234440" y="250560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compartilha o kernel do SO; a VM carrega um SO completo em cada instância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3" descr="preencoded.png"/>
          <p:cNvPicPr/>
          <p:nvPr/>
        </p:nvPicPr>
        <p:blipFill>
          <a:blip r:embed="rId4"/>
          <a:stretch/>
        </p:blipFill>
        <p:spPr>
          <a:xfrm>
            <a:off x="777240" y="3090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4"/>
          <p:cNvSpPr/>
          <p:nvPr/>
        </p:nvSpPr>
        <p:spPr>
          <a:xfrm>
            <a:off x="1234440" y="30722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Linux domina os servidores da internet — leve, estável, gratuito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Image 4" descr="preencoded.png"/>
          <p:cNvPicPr/>
          <p:nvPr/>
        </p:nvPicPr>
        <p:blipFill>
          <a:blip r:embed="rId5"/>
          <a:stretch/>
        </p:blipFill>
        <p:spPr>
          <a:xfrm>
            <a:off x="777240" y="3657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Text 5"/>
          <p:cNvSpPr/>
          <p:nvPr/>
        </p:nvSpPr>
        <p:spPr>
          <a:xfrm>
            <a:off x="1234440" y="36392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Servidores não têm tela: por isso cd, ls, cat, nano, mkdir e rm são essenciais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Image 5" descr="preencoded.png"/>
          <p:cNvPicPr/>
          <p:nvPr/>
        </p:nvPicPr>
        <p:blipFill>
          <a:blip r:embed="rId6"/>
          <a:stretch/>
        </p:blipFill>
        <p:spPr>
          <a:xfrm>
            <a:off x="777240" y="4224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 6"/>
          <p:cNvSpPr/>
          <p:nvPr/>
        </p:nvSpPr>
        <p:spPr>
          <a:xfrm>
            <a:off x="1234440" y="42062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SSH é a ponte segura até um servidor sem teclado, mouse ou monitor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9" name="Image 6" descr="preencoded.png"/>
          <p:cNvPicPr/>
          <p:nvPr/>
        </p:nvPicPr>
        <p:blipFill>
          <a:blip r:embed="rId7"/>
          <a:stretch/>
        </p:blipFill>
        <p:spPr>
          <a:xfrm>
            <a:off x="777240" y="479160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Text 7"/>
          <p:cNvSpPr/>
          <p:nvPr/>
        </p:nvSpPr>
        <p:spPr>
          <a:xfrm>
            <a:off x="1234440" y="47732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Docker: Dockerfile (receita) → imagem (molde) → container (em execução) → Docker Hub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1" name="Image 7" descr="preencoded.png"/>
          <p:cNvPicPr/>
          <p:nvPr/>
        </p:nvPicPr>
        <p:blipFill>
          <a:blip r:embed="rId8"/>
          <a:stretch/>
        </p:blipFill>
        <p:spPr>
          <a:xfrm>
            <a:off x="777240" y="5358240"/>
            <a:ext cx="292320" cy="29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Text 8"/>
          <p:cNvSpPr/>
          <p:nvPr/>
        </p:nvSpPr>
        <p:spPr>
          <a:xfrm>
            <a:off x="1234440" y="5340240"/>
            <a:ext cx="101494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Grupos Linux (como o grupo docker) definem quem usa certos comandos sem sudo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9"/>
          <p:cNvSpPr/>
          <p:nvPr/>
        </p:nvSpPr>
        <p:spPr>
          <a:xfrm>
            <a:off x="731520" y="60350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2A93B"/>
                </a:solidFill>
                <a:effectLst/>
                <a:uFillTx/>
                <a:latin typeface="Cambria"/>
                <a:ea typeface="Cambria"/>
              </a:rPr>
              <a:t>Dúvidas?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10"/>
          <p:cNvSpPr/>
          <p:nvPr/>
        </p:nvSpPr>
        <p:spPr>
          <a:xfrm>
            <a:off x="548640" y="6473880"/>
            <a:ext cx="73148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Fundamentos: Linux, Virtualização e Docker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11"/>
          <p:cNvSpPr/>
          <p:nvPr/>
        </p:nvSpPr>
        <p:spPr>
          <a:xfrm>
            <a:off x="11185920" y="6473880"/>
            <a:ext cx="5482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AFC6D2"/>
                </a:solidFill>
                <a:effectLst/>
                <a:uFillTx/>
                <a:latin typeface="Calibri"/>
                <a:ea typeface="Calibri"/>
              </a:rPr>
              <a:t>38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LibreOffice/26.2.5.2$Linux_X86_64 LibreOffice_project/6d2b0d33fb0f5da53a12f98bed3e9973e56ff1f0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2026-09-17T16:58:23Z</dcterms:created>
  <dc:creator>PptxGenJS</dc:creator>
  <dc:description/>
  <dc:language>en-US</dc:language>
  <cp:lastModifiedBy/>
  <dcterms:modified xsi:type="dcterms:W3CDTF">2026-09-17T15:32:31Z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38</vt:i4>
  </property>
  <property fmtid="{D5CDD505-2E9C-101B-9397-08002B2CF9AE}" pid="3" name="PresentationFormat">
    <vt:lpwstr>On-screen Show (16:9)</vt:lpwstr>
  </property>
  <property fmtid="{D5CDD505-2E9C-101B-9397-08002B2CF9AE}" pid="4" name="Slides">
    <vt:i4>38</vt:i4>
  </property>
</Properties>
</file>